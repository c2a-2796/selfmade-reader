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3f64630-c3ee-bafc-c136-7babff49d8e5}">
          <p14:sldIdLst>
            <p14:sldId id="256"/>
            <p14:sldId id="257"/>
            <p14:sldId id="258"/>
          </p14:sldIdLst>
        </p14:section>
        <p14:section name="How it works" id="{4f0c4560-a81c-4bc8-0800-9a68918f5810}">
          <p14:sldIdLst>
            <p14:sldId id="259"/>
            <p14:sldId id="260"/>
          </p14:sldIdLst>
        </p14:section>
        <p14:section name="Demo" id="{8659031a-ea1c-dae4-4e69-b32e32d8017f}">
          <p14:sldIdLst>
            <p14:sldId id="261"/>
            <p14:sldId id="262"/>
            <p14:sldId id="263"/>
            <p14:sldId id="264"/>
            <p14:sldId id="265"/>
          </p14:sldIdLst>
        </p14:section>
        <p14:section name="Deploy" id="{645e956f-9590-44ce-8d88-79b34295b1a5}">
          <p14:sldIdLst>
            <p14:sldId id="266"/>
            <p14:sldId id="267"/>
          </p14:sldIdLst>
        </p14:section>
        <p14:section name="Status" id="{0849f918-78b7-cc6b-a730-996441f51a5f}">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Selfmade Reader: a small program that takes the tags a UHF RFID reader sees, and gets them onto a computer over a normal Ethernet cable. It lets you configure the reader from a web page, watch tags live, store them in a CSV file and forward them to the internet. In the next 15-20 minutes I will explain the problem we solved, how it works, show it live, and then say exactly what is tested and what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started, the reader worked: it beeped on every tag. But over Ethernet nothing arrived. We tried the common reader protocols, a packet capture and listeners on many ports, and always got silence. The breakthrough was reading the manufacturer's own logs, which showed the real message format and the real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cause was a setting, not a cable or a bug. The reader had its Interface set to RS232/RS485, so it pushed tags out of its serial port. The Ethernet port was only used for settings. Its remote server was still the factory default. We switched the Interface to RJ45 and pointed the remote server at the computer. One warning for everyone: do not set Work mode to Answer; the reader then stops pushing and the buzzer goes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a UHF tag is read by the reader over 868 MHz radio. The reader is set to RJ45, so it opens a TCP connection to the computer, on port 6000, and pushes every tag it reads. Selfmade Reader receives it, shows it live, writes it to a CSV file and can forward each read to an HTTP address, an MQTT broker or a TCP server, using whatever network the computer has: Ethernet, WiFi or a 4G/5G hotspot.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separate connections. Port 60000 lives on the reader: the computer uses it to read and change settings. Port 6000 lives on the computer: the reader connects to it and pushes tags. The box at the bottom is a real message captured from the reader; it decodes to a 12-byte EPC, the signal strength and the antenna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demo. One: start the program. Two: open the Reader setup tab and click Find readers on the network. Three: click One-click Ethernet setup; it saves a backup, sets the interface to RJ45, points the reader at this computer and restarts it. Four: hold a tag near the antenna; the reader beeps and the tag appears. Five: open the CSV, or switch on forwarding. The next three slides show the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one is the dashboard. The pill at the top is the most useful part: green means the reader is connected and pushing; amber means the reader answers but is not sending, so run One-click setup; red means the computer cannot reach the reader at all, so check cable, power and IP. Below it, the counters and the live table. This screenshot uses recorded reads from our reader, replayed so we can show it without a live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two is where you configure the reader. The big blue button runs the whole fix in one go. Underneath are the individual settings: output interface, work mode, RF power, the network block with the remote server, and WiFi. Before any write the program saves the reader's current settings into a backup folder, and there is a Restore button. WiFi and the 4G interface are present in the form but are not yet tested on our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three is storage and forwarding. Tags are written to a CSV file; by default one row per tag per second so the file stays small, or every read, or one file per day. Below, you can forward every read to an HTTP address, an MQTT broker or a TCP server. Each has a Test button. This uses the computer's own connection, so WiFi or a 4G/5G phone hotspot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real rows from our reader's CSV: timestamp, the 12-byte EPC, signal strength and antenna. On the right, what happens to each read. It is always saved to CSV first. If forwarding is on it is sent; if the network or the server is down, the item is saved in a spool file on disk and resent automatically every 30 seconds, oldest first. We tested that with a server that was down and then came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run it anywhere you need Python 3.8 or newer and the one file. There are double-click launchers for Windows, macOS and Linux, and a single command, --install-autostart, that makes it start by itself: a systemd service on Linux, a launch agent on macOS, a scheduled task on Windows. Important honesty: only the Linux version has been tested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features added for real deployment. A clear status bar. A health URL a monitoring tool can poll. An optional password for the web page and an allow-list of reader IPs, because anyone who can open the page can change reader settings. It restarts after a crash, and on our test computer it started by itself after three reboots. And the reader's settings are backed up before every change. When we looked at the machine after a few days, it had also shown us a real-world failure: the Ethernet port was down, so no data came, and the status bar would now say so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straight about status. On the left is what we actually exercised. On the right is what is written but not yet proven. The SOP has a test-record table so each person who deploys can record the result for Windows, macOS, WiFi and a real cloud endpoint, and report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three things we would like people to try. Test Windows and macOS. Try the reader's WiFi interface. Connect a real HTTP or MQTT endpoint and unplug the network to see the spool work. Everything is in a private GitHub repository by invitation, and the SOP in the docs folder walks through install, setup, verification and sign-off.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100" dirty="0">
                <a:solidFill>
                  <a:schemeClr val="accent5"/>
                </a:solidFill>
              </a:rPr>
              <a:t>Selfmade Reader</a:t>
            </a:r>
            <a:endParaRPr lang="en-US" sz="1100" dirty="0"/>
          </a:p>
        </p:txBody>
      </p:sp>
      <p:sp>
        <p:nvSpPr>
          <p:cNvPr id="3" name="Text 1"/>
          <p:cNvSpPr/>
          <p:nvPr>
            <p:ph idx="101" type="title" hasCustomPrompt="1"/>
          </p:nvPr>
        </p:nvSpPr>
        <p:spPr>
          <a:xfrm>
            <a:off x="548640" y="411480"/>
            <a:ext cx="11094415"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548640" y="54864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731520" y="1920240"/>
            <a:ext cx="6949440"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Selfmade Reader</a:t>
            </a:r>
            <a:endParaRPr lang="en-US" sz="5400" dirty="0"/>
          </a:p>
        </p:txBody>
      </p:sp>
      <p:sp>
        <p:nvSpPr>
          <p:cNvPr id="3" name="Subtitle"/>
          <p:cNvSpPr txBox="1"/>
          <p:nvPr/>
        </p:nvSpPr>
        <p:spPr>
          <a:xfrm>
            <a:off x="731520" y="3108960"/>
            <a:ext cx="7223760" cy="868680"/>
          </a:xfrm>
          <a:prstGeom prst="rect">
            <a:avLst/>
          </a:prstGeom>
          <a:noFill/>
          <a:ln/>
        </p:spPr>
        <p:txBody>
          <a:bodyPr wrap="square" lIns="0" tIns="0" rIns="0" bIns="0" rtlCol="0" anchor="t"/>
          <a:lstStyle/>
          <a:p>
            <a:pPr indent="0" marL="0">
              <a:buNone/>
            </a:pPr>
            <a:r>
              <a:rPr lang="en-US" sz="2400" dirty="0">
                <a:solidFill>
                  <a:schemeClr val="bg2"/>
                </a:solidFill>
              </a:rPr>
              <a:t>UHF RFID tags to your computer over Ethernet</a:t>
            </a:r>
            <a:endParaRPr lang="en-US" sz="2400" dirty="0"/>
          </a:p>
        </p:txBody>
      </p:sp>
      <p:sp>
        <p:nvSpPr>
          <p:cNvPr id="4" name="Tagline"/>
          <p:cNvSpPr txBox="1"/>
          <p:nvPr/>
        </p:nvSpPr>
        <p:spPr>
          <a:xfrm>
            <a:off x="731520" y="4297680"/>
            <a:ext cx="6766560" cy="457200"/>
          </a:xfrm>
          <a:prstGeom prst="rect">
            <a:avLst/>
          </a:prstGeom>
          <a:noFill/>
          <a:ln/>
        </p:spPr>
        <p:txBody>
          <a:bodyPr wrap="square" lIns="0" tIns="0" rIns="0" bIns="0" rtlCol="0" anchor="t"/>
          <a:lstStyle/>
          <a:p>
            <a:pPr indent="0" marL="0">
              <a:buNone/>
            </a:pPr>
            <a:r>
              <a:rPr lang="en-US" sz="2000" b="1" dirty="0">
                <a:solidFill>
                  <a:schemeClr val="accent2"/>
                </a:solidFill>
              </a:rPr>
              <a:t>Configure  ·  Monitor  ·  Store  ·  Forward</a:t>
            </a:r>
            <a:endParaRPr lang="en-US" sz="2000" dirty="0"/>
          </a:p>
        </p:txBody>
      </p:sp>
      <p:sp>
        <p:nvSpPr>
          <p:cNvPr id="5" name="Context"/>
          <p:cNvSpPr txBox="1"/>
          <p:nvPr/>
        </p:nvSpPr>
        <p:spPr>
          <a:xfrm>
            <a:off x="731520" y="5943600"/>
            <a:ext cx="4572000" cy="365760"/>
          </a:xfrm>
          <a:prstGeom prst="rect">
            <a:avLst/>
          </a:prstGeom>
          <a:noFill/>
          <a:ln/>
        </p:spPr>
        <p:txBody>
          <a:bodyPr wrap="square" lIns="0" tIns="0" rIns="0" bIns="0" rtlCol="0" anchor="t"/>
          <a:lstStyle/>
          <a:p>
            <a:pPr indent="0" marL="0">
              <a:buNone/>
            </a:pPr>
            <a:r>
              <a:rPr lang="en-US" sz="1400" dirty="0">
                <a:solidFill>
                  <a:schemeClr val="accent5"/>
                </a:solidFill>
              </a:rPr>
              <a:t>Demo and walkthrough</a:t>
            </a:r>
            <a:endParaRPr lang="en-US" sz="1400" dirty="0"/>
          </a:p>
        </p:txBody>
      </p:sp>
      <p:sp>
        <p:nvSpPr>
          <p:cNvPr id="6" name="tag circle"/>
          <p:cNvSpPr/>
          <p:nvPr/>
        </p:nvSpPr>
        <p:spPr>
          <a:xfrm>
            <a:off x="8549640" y="1234440"/>
            <a:ext cx="1051560" cy="1051560"/>
          </a:xfrm>
          <a:prstGeom prst="ellipse">
            <a:avLst/>
          </a:prstGeom>
          <a:solidFill>
            <a:srgbClr val="FF7A1A"/>
          </a:solidFill>
          <a:ln w="12700">
            <a:solidFill>
              <a:srgbClr val="FF7A1A"/>
            </a:solidFill>
            <a:prstDash val="solid"/>
          </a:ln>
        </p:spPr>
      </p:sp>
      <p:pic>
        <p:nvPicPr>
          <p:cNvPr id="7" name="Image 0" descr="Tag icon">    </p:cNvPr>
          <p:cNvPicPr>
            <a:picLocks noChangeAspect="1"/>
          </p:cNvPicPr>
          <p:nvPr/>
        </p:nvPicPr>
        <p:blipFill>
          <a:blip r:embed="rId1"/>
          <a:stretch>
            <a:fillRect/>
          </a:stretch>
        </p:blipFill>
        <p:spPr>
          <a:xfrm>
            <a:off x="8812530" y="1497330"/>
            <a:ext cx="525780" cy="525780"/>
          </a:xfrm>
          <a:prstGeom prst="rect">
            <a:avLst/>
          </a:prstGeom>
        </p:spPr>
      </p:pic>
      <p:sp>
        <p:nvSpPr>
          <p:cNvPr id="8" name="reader circle"/>
          <p:cNvSpPr/>
          <p:nvPr/>
        </p:nvSpPr>
        <p:spPr>
          <a:xfrm>
            <a:off x="8549640" y="2926080"/>
            <a:ext cx="1051560" cy="1051560"/>
          </a:xfrm>
          <a:prstGeom prst="ellipse">
            <a:avLst/>
          </a:prstGeom>
          <a:solidFill>
            <a:srgbClr val="1F8A9E"/>
          </a:solidFill>
          <a:ln w="12700">
            <a:solidFill>
              <a:srgbClr val="1F8A9E"/>
            </a:solidFill>
            <a:prstDash val="solid"/>
          </a:ln>
        </p:spPr>
      </p:sp>
      <p:pic>
        <p:nvPicPr>
          <p:cNvPr id="9" name="Image 1" descr="BroadcastTower icon">    </p:cNvPr>
          <p:cNvPicPr>
            <a:picLocks noChangeAspect="1"/>
          </p:cNvPicPr>
          <p:nvPr/>
        </p:nvPicPr>
        <p:blipFill>
          <a:blip r:embed="rId2"/>
          <a:stretch>
            <a:fillRect/>
          </a:stretch>
        </p:blipFill>
        <p:spPr>
          <a:xfrm>
            <a:off x="8812530" y="3188970"/>
            <a:ext cx="525780" cy="525780"/>
          </a:xfrm>
          <a:prstGeom prst="rect">
            <a:avLst/>
          </a:prstGeom>
        </p:spPr>
      </p:pic>
      <p:sp>
        <p:nvSpPr>
          <p:cNvPr id="10" name="computer circle"/>
          <p:cNvSpPr/>
          <p:nvPr/>
        </p:nvSpPr>
        <p:spPr>
          <a:xfrm>
            <a:off x="8549640" y="4617720"/>
            <a:ext cx="1051560" cy="1051560"/>
          </a:xfrm>
          <a:prstGeom prst="ellipse">
            <a:avLst/>
          </a:prstGeom>
          <a:solidFill>
            <a:srgbClr val="FFFFFF"/>
          </a:solidFill>
          <a:ln w="12700">
            <a:solidFill>
              <a:srgbClr val="FFFFFF"/>
            </a:solidFill>
            <a:prstDash val="solid"/>
          </a:ln>
        </p:spPr>
      </p:sp>
      <p:pic>
        <p:nvPicPr>
          <p:cNvPr id="11" name="Image 2" descr="Laptop icon">    </p:cNvPr>
          <p:cNvPicPr>
            <a:picLocks noChangeAspect="1"/>
          </p:cNvPicPr>
          <p:nvPr/>
        </p:nvPicPr>
        <p:blipFill>
          <a:blip r:embed="rId3"/>
          <a:stretch>
            <a:fillRect/>
          </a:stretch>
        </p:blipFill>
        <p:spPr>
          <a:xfrm>
            <a:off x="8812530" y="4880610"/>
            <a:ext cx="525780" cy="525780"/>
          </a:xfrm>
          <a:prstGeom prst="rect">
            <a:avLst/>
          </a:prstGeom>
        </p:spPr>
      </p:pic>
      <p:sp>
        <p:nvSpPr>
          <p:cNvPr id="12" name="Shape 7"/>
          <p:cNvSpPr/>
          <p:nvPr/>
        </p:nvSpPr>
        <p:spPr>
          <a:xfrm>
            <a:off x="9075420" y="2331720"/>
            <a:ext cx="0" cy="548640"/>
          </a:xfrm>
          <a:prstGeom prst="line">
            <a:avLst/>
          </a:prstGeom>
          <a:noFill/>
          <a:ln w="28575">
            <a:solidFill>
              <a:srgbClr val="6C7A89"/>
            </a:solidFill>
            <a:prstDash val="solid"/>
            <a:tailEnd type="triangle"/>
          </a:ln>
        </p:spPr>
      </p:sp>
      <p:sp>
        <p:nvSpPr>
          <p:cNvPr id="13" name="Shape 8"/>
          <p:cNvSpPr/>
          <p:nvPr/>
        </p:nvSpPr>
        <p:spPr>
          <a:xfrm>
            <a:off x="9075420" y="4023360"/>
            <a:ext cx="0" cy="548640"/>
          </a:xfrm>
          <a:prstGeom prst="line">
            <a:avLst/>
          </a:prstGeom>
          <a:noFill/>
          <a:ln w="28575">
            <a:solidFill>
              <a:srgbClr val="6C7A89"/>
            </a:solidFill>
            <a:prstDash val="solid"/>
            <a:tailEnd type="triangle"/>
          </a:ln>
        </p:spPr>
      </p:sp>
      <p:sp>
        <p:nvSpPr>
          <p:cNvPr id="14" name="label tag"/>
          <p:cNvSpPr txBox="1"/>
          <p:nvPr/>
        </p:nvSpPr>
        <p:spPr>
          <a:xfrm>
            <a:off x="9829800" y="1572768"/>
            <a:ext cx="2194560" cy="365760"/>
          </a:xfrm>
          <a:prstGeom prst="rect">
            <a:avLst/>
          </a:prstGeom>
          <a:noFill/>
          <a:ln/>
        </p:spPr>
        <p:txBody>
          <a:bodyPr wrap="square" lIns="0" tIns="0" rIns="0" bIns="0" rtlCol="0" anchor="t"/>
          <a:lstStyle/>
          <a:p>
            <a:pPr indent="0" marL="0">
              <a:buNone/>
            </a:pPr>
            <a:r>
              <a:rPr lang="en-US" sz="1800" dirty="0">
                <a:solidFill>
                  <a:schemeClr val="bg1"/>
                </a:solidFill>
              </a:rPr>
              <a:t>UHF tag</a:t>
            </a:r>
            <a:endParaRPr lang="en-US" sz="1800" dirty="0"/>
          </a:p>
        </p:txBody>
      </p:sp>
      <p:sp>
        <p:nvSpPr>
          <p:cNvPr id="15" name="label reader"/>
          <p:cNvSpPr txBox="1"/>
          <p:nvPr/>
        </p:nvSpPr>
        <p:spPr>
          <a:xfrm>
            <a:off x="9829800" y="3264408"/>
            <a:ext cx="2194560" cy="365760"/>
          </a:xfrm>
          <a:prstGeom prst="rect">
            <a:avLst/>
          </a:prstGeom>
          <a:noFill/>
          <a:ln/>
        </p:spPr>
        <p:txBody>
          <a:bodyPr wrap="square" lIns="0" tIns="0" rIns="0" bIns="0" rtlCol="0" anchor="t"/>
          <a:lstStyle/>
          <a:p>
            <a:pPr indent="0" marL="0">
              <a:buNone/>
            </a:pPr>
            <a:r>
              <a:rPr lang="en-US" sz="1800" dirty="0">
                <a:solidFill>
                  <a:schemeClr val="bg1"/>
                </a:solidFill>
              </a:rPr>
              <a:t>Reader</a:t>
            </a:r>
            <a:endParaRPr lang="en-US" sz="1800" dirty="0"/>
          </a:p>
        </p:txBody>
      </p:sp>
      <p:sp>
        <p:nvSpPr>
          <p:cNvPr id="16" name="label computer"/>
          <p:cNvSpPr txBox="1"/>
          <p:nvPr/>
        </p:nvSpPr>
        <p:spPr>
          <a:xfrm>
            <a:off x="9829800" y="4956048"/>
            <a:ext cx="2194560" cy="365760"/>
          </a:xfrm>
          <a:prstGeom prst="rect">
            <a:avLst/>
          </a:prstGeom>
          <a:noFill/>
          <a:ln/>
        </p:spPr>
        <p:txBody>
          <a:bodyPr wrap="square" lIns="0" tIns="0" rIns="0" bIns="0" rtlCol="0" anchor="t"/>
          <a:lstStyle/>
          <a:p>
            <a:pPr indent="0" marL="0">
              <a:buNone/>
            </a:pPr>
            <a:r>
              <a:rPr lang="en-US" sz="1800" dirty="0">
                <a:solidFill>
                  <a:schemeClr val="bg1"/>
                </a:solidFill>
              </a:rPr>
              <a:t>Your computer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The reader beeped, but no data arrived</a:t>
            </a:r>
            <a:endParaRPr lang="en-US" sz="3400" dirty="0"/>
          </a:p>
        </p:txBody>
      </p:sp>
      <p:sp>
        <p:nvSpPr>
          <p:cNvPr id="3" name="Problem points"/>
          <p:cNvSpPr txBox="1"/>
          <p:nvPr/>
        </p:nvSpPr>
        <p:spPr>
          <a:xfrm>
            <a:off x="548640" y="1737360"/>
            <a:ext cx="5394960" cy="347472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A UHF reader was cabled over Ethernet and beeped on every tag it read.</a:t>
            </a:r>
            <a:endParaRPr lang="en-US" sz="2000" dirty="0"/>
          </a:p>
          <a:p>
            <a:pPr marL="342900" indent="-342900">
              <a:spcAft>
                <a:spcPts val="1400"/>
              </a:spcAft>
              <a:buSzPct val="100000"/>
              <a:buChar char="•"/>
            </a:pPr>
            <a:r>
              <a:rPr lang="en-US" sz="2000" dirty="0">
                <a:solidFill>
                  <a:schemeClr val="tx1"/>
                </a:solidFill>
              </a:rPr>
              <a:t>The computer could see the reader on the network, yet received 0 bytes of tag data.</a:t>
            </a:r>
            <a:endParaRPr lang="en-US" sz="2000" dirty="0"/>
          </a:p>
          <a:p>
            <a:pPr marL="342900" indent="-342900">
              <a:buSzPct val="100000"/>
              <a:buChar char="•"/>
            </a:pPr>
            <a:r>
              <a:rPr lang="en-US" sz="2000" dirty="0">
                <a:solidFill>
                  <a:schemeClr val="tx1"/>
                </a:solidFill>
              </a:rPr>
              <a:t>Guessing protocols failed. The manufacturer's own logs and software showed how it really works.</a:t>
            </a:r>
            <a:endParaRPr lang="en-US" sz="2000" dirty="0"/>
          </a:p>
        </p:txBody>
      </p:sp>
      <p:sp>
        <p:nvSpPr>
          <p:cNvPr id="4" name="ok card"/>
          <p:cNvSpPr/>
          <p:nvPr/>
        </p:nvSpPr>
        <p:spPr>
          <a:xfrm>
            <a:off x="6400800" y="1645920"/>
            <a:ext cx="5212080" cy="1828800"/>
          </a:xfrm>
          <a:prstGeom prst="roundRect">
            <a:avLst>
              <a:gd name="adj" fmla="val 6000"/>
            </a:avLst>
          </a:prstGeom>
          <a:solidFill>
            <a:srgbClr val="EEF3F6"/>
          </a:solidFill>
          <a:ln w="9525">
            <a:solidFill>
              <a:schemeClr val="bg2"/>
            </a:solidFill>
            <a:prstDash val="solid"/>
          </a:ln>
        </p:spPr>
      </p:sp>
      <p:sp>
        <p:nvSpPr>
          <p:cNvPr id="5" name="ok circle"/>
          <p:cNvSpPr/>
          <p:nvPr/>
        </p:nvSpPr>
        <p:spPr>
          <a:xfrm>
            <a:off x="6675120" y="1965960"/>
            <a:ext cx="914400" cy="914400"/>
          </a:xfrm>
          <a:prstGeom prst="ellipse">
            <a:avLst/>
          </a:prstGeom>
          <a:solidFill>
            <a:srgbClr val="2FA37C"/>
          </a:solidFill>
          <a:ln w="12700">
            <a:solidFill>
              <a:srgbClr val="2FA37C"/>
            </a:solidFill>
            <a:prstDash val="solid"/>
          </a:ln>
        </p:spPr>
      </p:sp>
      <p:pic>
        <p:nvPicPr>
          <p:cNvPr id="6" name="Image 0" descr="Check icon">    </p:cNvPr>
          <p:cNvPicPr>
            <a:picLocks noChangeAspect="1"/>
          </p:cNvPicPr>
          <p:nvPr/>
        </p:nvPicPr>
        <p:blipFill>
          <a:blip r:embed="rId1"/>
          <a:stretch>
            <a:fillRect/>
          </a:stretch>
        </p:blipFill>
        <p:spPr>
          <a:xfrm>
            <a:off x="6903720" y="2194560"/>
            <a:ext cx="457200" cy="457200"/>
          </a:xfrm>
          <a:prstGeom prst="rect">
            <a:avLst/>
          </a:prstGeom>
        </p:spPr>
      </p:pic>
      <p:sp>
        <p:nvSpPr>
          <p:cNvPr id="7" name="ok title"/>
          <p:cNvSpPr txBox="1"/>
          <p:nvPr/>
        </p:nvSpPr>
        <p:spPr>
          <a:xfrm>
            <a:off x="7863840" y="1920240"/>
            <a:ext cx="3657600" cy="457200"/>
          </a:xfrm>
          <a:prstGeom prst="rect">
            <a:avLst/>
          </a:prstGeom>
          <a:noFill/>
          <a:ln/>
        </p:spPr>
        <p:txBody>
          <a:bodyPr wrap="square" lIns="0" tIns="0" rIns="0" bIns="0" rtlCol="0" anchor="t"/>
          <a:lstStyle/>
          <a:p>
            <a:pPr indent="0" marL="0">
              <a:buNone/>
            </a:pPr>
            <a:r>
              <a:rPr lang="en-US" sz="2200" b="1" dirty="0">
                <a:solidFill>
                  <a:schemeClr val="tx2"/>
                </a:solidFill>
              </a:rPr>
              <a:t>Radio side works</a:t>
            </a:r>
            <a:endParaRPr lang="en-US" sz="2200" dirty="0"/>
          </a:p>
        </p:txBody>
      </p:sp>
      <p:sp>
        <p:nvSpPr>
          <p:cNvPr id="8" name="ok text"/>
          <p:cNvSpPr txBox="1"/>
          <p:nvPr/>
        </p:nvSpPr>
        <p:spPr>
          <a:xfrm>
            <a:off x="7863840" y="2468880"/>
            <a:ext cx="3566160" cy="731520"/>
          </a:xfrm>
          <a:prstGeom prst="rect">
            <a:avLst/>
          </a:prstGeom>
          <a:noFill/>
          <a:ln/>
        </p:spPr>
        <p:txBody>
          <a:bodyPr wrap="square" lIns="0" tIns="0" rIns="0" bIns="0" rtlCol="0" anchor="t"/>
          <a:lstStyle/>
          <a:p>
            <a:pPr indent="0" marL="0">
              <a:buNone/>
            </a:pPr>
            <a:r>
              <a:rPr lang="en-US" sz="1600" dirty="0">
                <a:solidFill>
                  <a:schemeClr val="tx1"/>
                </a:solidFill>
              </a:rPr>
              <a:t>The reader beeps on every tag.</a:t>
            </a:r>
            <a:endParaRPr lang="en-US" sz="1600" dirty="0"/>
          </a:p>
        </p:txBody>
      </p:sp>
      <p:sp>
        <p:nvSpPr>
          <p:cNvPr id="9" name="bad card"/>
          <p:cNvSpPr/>
          <p:nvPr/>
        </p:nvSpPr>
        <p:spPr>
          <a:xfrm>
            <a:off x="6400800" y="3749040"/>
            <a:ext cx="5212080" cy="1828800"/>
          </a:xfrm>
          <a:prstGeom prst="roundRect">
            <a:avLst>
              <a:gd name="adj" fmla="val 6000"/>
            </a:avLst>
          </a:prstGeom>
          <a:solidFill>
            <a:srgbClr val="EEF3F6"/>
          </a:solidFill>
          <a:ln w="9525">
            <a:solidFill>
              <a:schemeClr val="bg2"/>
            </a:solidFill>
            <a:prstDash val="solid"/>
          </a:ln>
        </p:spPr>
      </p:sp>
      <p:sp>
        <p:nvSpPr>
          <p:cNvPr id="10" name="bad circle"/>
          <p:cNvSpPr/>
          <p:nvPr/>
        </p:nvSpPr>
        <p:spPr>
          <a:xfrm>
            <a:off x="6675120" y="4069080"/>
            <a:ext cx="914400" cy="914400"/>
          </a:xfrm>
          <a:prstGeom prst="ellipse">
            <a:avLst/>
          </a:prstGeom>
          <a:solidFill>
            <a:srgbClr val="D9534F"/>
          </a:solidFill>
          <a:ln w="12700">
            <a:solidFill>
              <a:srgbClr val="D9534F"/>
            </a:solidFill>
            <a:prstDash val="solid"/>
          </a:ln>
        </p:spPr>
      </p:sp>
      <p:pic>
        <p:nvPicPr>
          <p:cNvPr id="11" name="Image 1" descr="Times icon">    </p:cNvPr>
          <p:cNvPicPr>
            <a:picLocks noChangeAspect="1"/>
          </p:cNvPicPr>
          <p:nvPr/>
        </p:nvPicPr>
        <p:blipFill>
          <a:blip r:embed="rId2"/>
          <a:stretch>
            <a:fillRect/>
          </a:stretch>
        </p:blipFill>
        <p:spPr>
          <a:xfrm>
            <a:off x="6903720" y="4297680"/>
            <a:ext cx="457200" cy="457200"/>
          </a:xfrm>
          <a:prstGeom prst="rect">
            <a:avLst/>
          </a:prstGeom>
        </p:spPr>
      </p:pic>
      <p:sp>
        <p:nvSpPr>
          <p:cNvPr id="12" name="bad title"/>
          <p:cNvSpPr txBox="1"/>
          <p:nvPr/>
        </p:nvSpPr>
        <p:spPr>
          <a:xfrm>
            <a:off x="7863840" y="4023360"/>
            <a:ext cx="3657600" cy="457200"/>
          </a:xfrm>
          <a:prstGeom prst="rect">
            <a:avLst/>
          </a:prstGeom>
          <a:noFill/>
          <a:ln/>
        </p:spPr>
        <p:txBody>
          <a:bodyPr wrap="square" lIns="0" tIns="0" rIns="0" bIns="0" rtlCol="0" anchor="t"/>
          <a:lstStyle/>
          <a:p>
            <a:pPr indent="0" marL="0">
              <a:buNone/>
            </a:pPr>
            <a:r>
              <a:rPr lang="en-US" sz="2200" b="1" dirty="0">
                <a:solidFill>
                  <a:schemeClr val="tx2"/>
                </a:solidFill>
              </a:rPr>
              <a:t>Ethernet side silent</a:t>
            </a:r>
            <a:endParaRPr lang="en-US" sz="2200" dirty="0"/>
          </a:p>
        </p:txBody>
      </p:sp>
      <p:sp>
        <p:nvSpPr>
          <p:cNvPr id="13" name="bad text"/>
          <p:cNvSpPr txBox="1"/>
          <p:nvPr/>
        </p:nvSpPr>
        <p:spPr>
          <a:xfrm>
            <a:off x="7863840" y="4572000"/>
            <a:ext cx="3566160" cy="731520"/>
          </a:xfrm>
          <a:prstGeom prst="rect">
            <a:avLst/>
          </a:prstGeom>
          <a:noFill/>
          <a:ln/>
        </p:spPr>
        <p:txBody>
          <a:bodyPr wrap="square" lIns="0" tIns="0" rIns="0" bIns="0" rtlCol="0" anchor="t"/>
          <a:lstStyle/>
          <a:p>
            <a:pPr indent="0" marL="0">
              <a:buNone/>
            </a:pPr>
            <a:r>
              <a:rPr lang="en-US" sz="1600" dirty="0">
                <a:solidFill>
                  <a:schemeClr val="tx1"/>
                </a:solidFill>
              </a:rPr>
              <a:t>0 bytes of tag data reached the computer.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Root cause: tags left through the wrong port</a:t>
            </a:r>
            <a:endParaRPr lang="en-US" sz="3400" dirty="0"/>
          </a:p>
        </p:txBody>
      </p:sp>
      <p:sp>
        <p:nvSpPr>
          <p:cNvPr id="3" name="before card"/>
          <p:cNvSpPr/>
          <p:nvPr/>
        </p:nvSpPr>
        <p:spPr>
          <a:xfrm>
            <a:off x="548640" y="1645920"/>
            <a:ext cx="5029200" cy="3657600"/>
          </a:xfrm>
          <a:prstGeom prst="roundRect">
            <a:avLst>
              <a:gd name="adj" fmla="val 3000"/>
            </a:avLst>
          </a:prstGeom>
          <a:solidFill>
            <a:srgbClr val="FBE9E8"/>
          </a:solidFill>
          <a:ln w="9525">
            <a:solidFill>
              <a:schemeClr val="bg2"/>
            </a:solidFill>
            <a:prstDash val="solid"/>
          </a:ln>
        </p:spPr>
      </p:sp>
      <p:sp>
        <p:nvSpPr>
          <p:cNvPr id="4" name="after card"/>
          <p:cNvSpPr/>
          <p:nvPr/>
        </p:nvSpPr>
        <p:spPr>
          <a:xfrm>
            <a:off x="6613855" y="1645920"/>
            <a:ext cx="5029200" cy="3657600"/>
          </a:xfrm>
          <a:prstGeom prst="roundRect">
            <a:avLst>
              <a:gd name="adj" fmla="val 3000"/>
            </a:avLst>
          </a:prstGeom>
          <a:solidFill>
            <a:srgbClr val="E5F4EE"/>
          </a:solidFill>
          <a:ln w="9525">
            <a:solidFill>
              <a:schemeClr val="bg2"/>
            </a:solidFill>
            <a:prstDash val="solid"/>
          </a:ln>
        </p:spPr>
      </p:sp>
      <p:sp>
        <p:nvSpPr>
          <p:cNvPr id="5" name="before label"/>
          <p:cNvSpPr txBox="1"/>
          <p:nvPr/>
        </p:nvSpPr>
        <p:spPr>
          <a:xfrm>
            <a:off x="868680" y="1920240"/>
            <a:ext cx="2743200" cy="365760"/>
          </a:xfrm>
          <a:prstGeom prst="rect">
            <a:avLst/>
          </a:prstGeom>
          <a:noFill/>
          <a:ln/>
        </p:spPr>
        <p:txBody>
          <a:bodyPr wrap="square" lIns="0" tIns="0" rIns="0" bIns="0" rtlCol="0" anchor="t"/>
          <a:lstStyle/>
          <a:p>
            <a:pPr indent="0" marL="0">
              <a:buNone/>
            </a:pPr>
            <a:r>
              <a:rPr lang="en-US" sz="1600" b="1" dirty="0">
                <a:solidFill>
                  <a:schemeClr val="accent4"/>
                </a:solidFill>
              </a:rPr>
              <a:t>BEFORE</a:t>
            </a:r>
            <a:endParaRPr lang="en-US" sz="1600" dirty="0"/>
          </a:p>
        </p:txBody>
      </p:sp>
      <p:sp>
        <p:nvSpPr>
          <p:cNvPr id="6" name="after label"/>
          <p:cNvSpPr txBox="1"/>
          <p:nvPr/>
        </p:nvSpPr>
        <p:spPr>
          <a:xfrm>
            <a:off x="6933895" y="1920240"/>
            <a:ext cx="2743200" cy="365760"/>
          </a:xfrm>
          <a:prstGeom prst="rect">
            <a:avLst/>
          </a:prstGeom>
          <a:noFill/>
          <a:ln/>
        </p:spPr>
        <p:txBody>
          <a:bodyPr wrap="square" lIns="0" tIns="0" rIns="0" bIns="0" rtlCol="0" anchor="t"/>
          <a:lstStyle/>
          <a:p>
            <a:pPr indent="0" marL="0">
              <a:buNone/>
            </a:pPr>
            <a:r>
              <a:rPr lang="en-US" sz="1600" b="1" dirty="0">
                <a:solidFill>
                  <a:schemeClr val="accent3"/>
                </a:solidFill>
              </a:rPr>
              <a:t>AFTER</a:t>
            </a:r>
            <a:endParaRPr lang="en-US" sz="1600" dirty="0"/>
          </a:p>
        </p:txBody>
      </p:sp>
      <p:sp>
        <p:nvSpPr>
          <p:cNvPr id="7" name="before key 0"/>
          <p:cNvSpPr txBox="1"/>
          <p:nvPr/>
        </p:nvSpPr>
        <p:spPr>
          <a:xfrm>
            <a:off x="868680" y="2468880"/>
            <a:ext cx="4389120" cy="274320"/>
          </a:xfrm>
          <a:prstGeom prst="rect">
            <a:avLst/>
          </a:prstGeom>
          <a:noFill/>
          <a:ln/>
        </p:spPr>
        <p:txBody>
          <a:bodyPr wrap="square" lIns="0" tIns="0" rIns="0" bIns="0" rtlCol="0" anchor="t"/>
          <a:lstStyle/>
          <a:p>
            <a:pPr indent="0" marL="0">
              <a:buNone/>
            </a:pPr>
            <a:r>
              <a:rPr lang="en-US" sz="1400" dirty="0">
                <a:solidFill>
                  <a:schemeClr val="accent5"/>
                </a:solidFill>
              </a:rPr>
              <a:t>Output interface</a:t>
            </a:r>
            <a:endParaRPr lang="en-US" sz="1400" dirty="0"/>
          </a:p>
        </p:txBody>
      </p:sp>
      <p:sp>
        <p:nvSpPr>
          <p:cNvPr id="8" name="before val 0"/>
          <p:cNvSpPr txBox="1"/>
          <p:nvPr/>
        </p:nvSpPr>
        <p:spPr>
          <a:xfrm>
            <a:off x="868680" y="2743200"/>
            <a:ext cx="4389120" cy="502920"/>
          </a:xfrm>
          <a:prstGeom prst="rect">
            <a:avLst/>
          </a:prstGeom>
          <a:noFill/>
          <a:ln/>
        </p:spPr>
        <p:txBody>
          <a:bodyPr wrap="square" lIns="0" tIns="0" rIns="0" bIns="0" rtlCol="0" anchor="t"/>
          <a:lstStyle/>
          <a:p>
            <a:pPr indent="0" marL="0">
              <a:buNone/>
            </a:pPr>
            <a:r>
              <a:rPr lang="en-US" sz="1800" b="1" dirty="0">
                <a:solidFill>
                  <a:schemeClr val="tx1"/>
                </a:solidFill>
              </a:rPr>
              <a:t>RS232 / RS485 (serial)</a:t>
            </a:r>
            <a:endParaRPr lang="en-US" sz="1800" dirty="0"/>
          </a:p>
        </p:txBody>
      </p:sp>
      <p:sp>
        <p:nvSpPr>
          <p:cNvPr id="9" name="after key 0"/>
          <p:cNvSpPr txBox="1"/>
          <p:nvPr/>
        </p:nvSpPr>
        <p:spPr>
          <a:xfrm>
            <a:off x="6933895" y="2468880"/>
            <a:ext cx="4389120" cy="274320"/>
          </a:xfrm>
          <a:prstGeom prst="rect">
            <a:avLst/>
          </a:prstGeom>
          <a:noFill/>
          <a:ln/>
        </p:spPr>
        <p:txBody>
          <a:bodyPr wrap="square" lIns="0" tIns="0" rIns="0" bIns="0" rtlCol="0" anchor="t"/>
          <a:lstStyle/>
          <a:p>
            <a:pPr indent="0" marL="0">
              <a:buNone/>
            </a:pPr>
            <a:r>
              <a:rPr lang="en-US" sz="1400" dirty="0">
                <a:solidFill>
                  <a:schemeClr val="accent5"/>
                </a:solidFill>
              </a:rPr>
              <a:t>Output interface</a:t>
            </a:r>
            <a:endParaRPr lang="en-US" sz="1400" dirty="0"/>
          </a:p>
        </p:txBody>
      </p:sp>
      <p:sp>
        <p:nvSpPr>
          <p:cNvPr id="10" name="after val 0"/>
          <p:cNvSpPr txBox="1"/>
          <p:nvPr/>
        </p:nvSpPr>
        <p:spPr>
          <a:xfrm>
            <a:off x="6933895" y="2743200"/>
            <a:ext cx="4389120" cy="502920"/>
          </a:xfrm>
          <a:prstGeom prst="rect">
            <a:avLst/>
          </a:prstGeom>
          <a:noFill/>
          <a:ln/>
        </p:spPr>
        <p:txBody>
          <a:bodyPr wrap="square" lIns="0" tIns="0" rIns="0" bIns="0" rtlCol="0" anchor="t"/>
          <a:lstStyle/>
          <a:p>
            <a:pPr indent="0" marL="0">
              <a:buNone/>
            </a:pPr>
            <a:r>
              <a:rPr lang="en-US" sz="1800" b="1" dirty="0">
                <a:solidFill>
                  <a:schemeClr val="tx1"/>
                </a:solidFill>
              </a:rPr>
              <a:t>RJ45 (Ethernet)</a:t>
            </a:r>
            <a:endParaRPr lang="en-US" sz="1800" dirty="0"/>
          </a:p>
        </p:txBody>
      </p:sp>
      <p:sp>
        <p:nvSpPr>
          <p:cNvPr id="11" name="before key 1"/>
          <p:cNvSpPr txBox="1"/>
          <p:nvPr/>
        </p:nvSpPr>
        <p:spPr>
          <a:xfrm>
            <a:off x="868680" y="3383280"/>
            <a:ext cx="4389120" cy="274320"/>
          </a:xfrm>
          <a:prstGeom prst="rect">
            <a:avLst/>
          </a:prstGeom>
          <a:noFill/>
          <a:ln/>
        </p:spPr>
        <p:txBody>
          <a:bodyPr wrap="square" lIns="0" tIns="0" rIns="0" bIns="0" rtlCol="0" anchor="t"/>
          <a:lstStyle/>
          <a:p>
            <a:pPr indent="0" marL="0">
              <a:buNone/>
            </a:pPr>
            <a:r>
              <a:rPr lang="en-US" sz="1400" dirty="0">
                <a:solidFill>
                  <a:schemeClr val="accent5"/>
                </a:solidFill>
              </a:rPr>
              <a:t>Remote server</a:t>
            </a:r>
            <a:endParaRPr lang="en-US" sz="1400" dirty="0"/>
          </a:p>
        </p:txBody>
      </p:sp>
      <p:sp>
        <p:nvSpPr>
          <p:cNvPr id="12" name="before val 1"/>
          <p:cNvSpPr txBox="1"/>
          <p:nvPr/>
        </p:nvSpPr>
        <p:spPr>
          <a:xfrm>
            <a:off x="868680" y="3657600"/>
            <a:ext cx="4389120" cy="502920"/>
          </a:xfrm>
          <a:prstGeom prst="rect">
            <a:avLst/>
          </a:prstGeom>
          <a:noFill/>
          <a:ln/>
        </p:spPr>
        <p:txBody>
          <a:bodyPr wrap="square" lIns="0" tIns="0" rIns="0" bIns="0" rtlCol="0" anchor="t"/>
          <a:lstStyle/>
          <a:p>
            <a:pPr indent="0" marL="0">
              <a:buNone/>
            </a:pPr>
            <a:r>
              <a:rPr lang="en-US" sz="1800" b="1" dirty="0">
                <a:solidFill>
                  <a:schemeClr val="tx1"/>
                </a:solidFill>
              </a:rPr>
              <a:t>120.78.148.145 : 0</a:t>
            </a:r>
            <a:endParaRPr lang="en-US" sz="1800" dirty="0"/>
          </a:p>
        </p:txBody>
      </p:sp>
      <p:sp>
        <p:nvSpPr>
          <p:cNvPr id="13" name="after key 1"/>
          <p:cNvSpPr txBox="1"/>
          <p:nvPr/>
        </p:nvSpPr>
        <p:spPr>
          <a:xfrm>
            <a:off x="6933895" y="3383280"/>
            <a:ext cx="4389120" cy="274320"/>
          </a:xfrm>
          <a:prstGeom prst="rect">
            <a:avLst/>
          </a:prstGeom>
          <a:noFill/>
          <a:ln/>
        </p:spPr>
        <p:txBody>
          <a:bodyPr wrap="square" lIns="0" tIns="0" rIns="0" bIns="0" rtlCol="0" anchor="t"/>
          <a:lstStyle/>
          <a:p>
            <a:pPr indent="0" marL="0">
              <a:buNone/>
            </a:pPr>
            <a:r>
              <a:rPr lang="en-US" sz="1400" dirty="0">
                <a:solidFill>
                  <a:schemeClr val="accent5"/>
                </a:solidFill>
              </a:rPr>
              <a:t>Remote server</a:t>
            </a:r>
            <a:endParaRPr lang="en-US" sz="1400" dirty="0"/>
          </a:p>
        </p:txBody>
      </p:sp>
      <p:sp>
        <p:nvSpPr>
          <p:cNvPr id="14" name="after val 1"/>
          <p:cNvSpPr txBox="1"/>
          <p:nvPr/>
        </p:nvSpPr>
        <p:spPr>
          <a:xfrm>
            <a:off x="6933895" y="3657600"/>
            <a:ext cx="4389120" cy="502920"/>
          </a:xfrm>
          <a:prstGeom prst="rect">
            <a:avLst/>
          </a:prstGeom>
          <a:noFill/>
          <a:ln/>
        </p:spPr>
        <p:txBody>
          <a:bodyPr wrap="square" lIns="0" tIns="0" rIns="0" bIns="0" rtlCol="0" anchor="t"/>
          <a:lstStyle/>
          <a:p>
            <a:pPr indent="0" marL="0">
              <a:buNone/>
            </a:pPr>
            <a:r>
              <a:rPr lang="en-US" sz="1800" b="1" dirty="0">
                <a:solidFill>
                  <a:schemeClr val="tx1"/>
                </a:solidFill>
              </a:rPr>
              <a:t>192.168.1.10 : 6000</a:t>
            </a:r>
            <a:endParaRPr lang="en-US" sz="1800" dirty="0"/>
          </a:p>
        </p:txBody>
      </p:sp>
      <p:sp>
        <p:nvSpPr>
          <p:cNvPr id="15" name="before key 2"/>
          <p:cNvSpPr txBox="1"/>
          <p:nvPr/>
        </p:nvSpPr>
        <p:spPr>
          <a:xfrm>
            <a:off x="868680" y="4297680"/>
            <a:ext cx="4389120" cy="274320"/>
          </a:xfrm>
          <a:prstGeom prst="rect">
            <a:avLst/>
          </a:prstGeom>
          <a:noFill/>
          <a:ln/>
        </p:spPr>
        <p:txBody>
          <a:bodyPr wrap="square" lIns="0" tIns="0" rIns="0" bIns="0" rtlCol="0" anchor="t"/>
          <a:lstStyle/>
          <a:p>
            <a:pPr indent="0" marL="0">
              <a:buNone/>
            </a:pPr>
            <a:r>
              <a:rPr lang="en-US" sz="1400" dirty="0">
                <a:solidFill>
                  <a:schemeClr val="accent5"/>
                </a:solidFill>
              </a:rPr>
              <a:t>Result</a:t>
            </a:r>
            <a:endParaRPr lang="en-US" sz="1400" dirty="0"/>
          </a:p>
        </p:txBody>
      </p:sp>
      <p:sp>
        <p:nvSpPr>
          <p:cNvPr id="16" name="before val 2"/>
          <p:cNvSpPr txBox="1"/>
          <p:nvPr/>
        </p:nvSpPr>
        <p:spPr>
          <a:xfrm>
            <a:off x="868680" y="4572000"/>
            <a:ext cx="4389120" cy="502920"/>
          </a:xfrm>
          <a:prstGeom prst="rect">
            <a:avLst/>
          </a:prstGeom>
          <a:noFill/>
          <a:ln/>
        </p:spPr>
        <p:txBody>
          <a:bodyPr wrap="square" lIns="0" tIns="0" rIns="0" bIns="0" rtlCol="0" anchor="t"/>
          <a:lstStyle/>
          <a:p>
            <a:pPr indent="0" marL="0">
              <a:buNone/>
            </a:pPr>
            <a:r>
              <a:rPr lang="en-US" sz="1800" b="1" dirty="0">
                <a:solidFill>
                  <a:schemeClr val="tx1"/>
                </a:solidFill>
              </a:rPr>
              <a:t>Tags never leave the serial cable</a:t>
            </a:r>
            <a:endParaRPr lang="en-US" sz="1800" dirty="0"/>
          </a:p>
        </p:txBody>
      </p:sp>
      <p:sp>
        <p:nvSpPr>
          <p:cNvPr id="17" name="after key 2"/>
          <p:cNvSpPr txBox="1"/>
          <p:nvPr/>
        </p:nvSpPr>
        <p:spPr>
          <a:xfrm>
            <a:off x="6933895" y="4297680"/>
            <a:ext cx="4389120" cy="274320"/>
          </a:xfrm>
          <a:prstGeom prst="rect">
            <a:avLst/>
          </a:prstGeom>
          <a:noFill/>
          <a:ln/>
        </p:spPr>
        <p:txBody>
          <a:bodyPr wrap="square" lIns="0" tIns="0" rIns="0" bIns="0" rtlCol="0" anchor="t"/>
          <a:lstStyle/>
          <a:p>
            <a:pPr indent="0" marL="0">
              <a:buNone/>
            </a:pPr>
            <a:r>
              <a:rPr lang="en-US" sz="1400" dirty="0">
                <a:solidFill>
                  <a:schemeClr val="accent5"/>
                </a:solidFill>
              </a:rPr>
              <a:t>Result</a:t>
            </a:r>
            <a:endParaRPr lang="en-US" sz="1400" dirty="0"/>
          </a:p>
        </p:txBody>
      </p:sp>
      <p:sp>
        <p:nvSpPr>
          <p:cNvPr id="18" name="after val 2"/>
          <p:cNvSpPr txBox="1"/>
          <p:nvPr/>
        </p:nvSpPr>
        <p:spPr>
          <a:xfrm>
            <a:off x="6933895" y="4572000"/>
            <a:ext cx="4389120" cy="502920"/>
          </a:xfrm>
          <a:prstGeom prst="rect">
            <a:avLst/>
          </a:prstGeom>
          <a:noFill/>
          <a:ln/>
        </p:spPr>
        <p:txBody>
          <a:bodyPr wrap="square" lIns="0" tIns="0" rIns="0" bIns="0" rtlCol="0" anchor="t"/>
          <a:lstStyle/>
          <a:p>
            <a:pPr indent="0" marL="0">
              <a:buNone/>
            </a:pPr>
            <a:r>
              <a:rPr lang="en-US" sz="1800" b="1" dirty="0">
                <a:solidFill>
                  <a:schemeClr val="tx1"/>
                </a:solidFill>
              </a:rPr>
              <a:t>Reader connects to the PC and pushes every tag</a:t>
            </a:r>
            <a:endParaRPr lang="en-US" sz="1800" dirty="0"/>
          </a:p>
        </p:txBody>
      </p:sp>
      <p:sp>
        <p:nvSpPr>
          <p:cNvPr id="19" name="to circle"/>
          <p:cNvSpPr/>
          <p:nvPr/>
        </p:nvSpPr>
        <p:spPr>
          <a:xfrm>
            <a:off x="5730088" y="3108960"/>
            <a:ext cx="731520" cy="731520"/>
          </a:xfrm>
          <a:prstGeom prst="ellipse">
            <a:avLst/>
          </a:prstGeom>
          <a:solidFill>
            <a:srgbClr val="FF7A1A"/>
          </a:solidFill>
          <a:ln w="12700">
            <a:solidFill>
              <a:srgbClr val="FF7A1A"/>
            </a:solidFill>
            <a:prstDash val="solid"/>
          </a:ln>
        </p:spPr>
      </p:sp>
      <p:pic>
        <p:nvPicPr>
          <p:cNvPr id="20" name="Image 0" descr="ArrowRight icon">    </p:cNvPr>
          <p:cNvPicPr>
            <a:picLocks noChangeAspect="1"/>
          </p:cNvPicPr>
          <p:nvPr/>
        </p:nvPicPr>
        <p:blipFill>
          <a:blip r:embed="rId1"/>
          <a:stretch>
            <a:fillRect/>
          </a:stretch>
        </p:blipFill>
        <p:spPr>
          <a:xfrm>
            <a:off x="5912968" y="3291840"/>
            <a:ext cx="365760" cy="365760"/>
          </a:xfrm>
          <a:prstGeom prst="rect">
            <a:avLst/>
          </a:prstGeom>
        </p:spPr>
      </p:pic>
      <p:sp>
        <p:nvSpPr>
          <p:cNvPr id="21" name="Warning"/>
          <p:cNvSpPr txBox="1"/>
          <p:nvPr/>
        </p:nvSpPr>
        <p:spPr>
          <a:xfrm>
            <a:off x="548640" y="5577840"/>
            <a:ext cx="11094415" cy="548640"/>
          </a:xfrm>
          <a:prstGeom prst="rect">
            <a:avLst/>
          </a:prstGeom>
          <a:noFill/>
          <a:ln/>
        </p:spPr>
        <p:txBody>
          <a:bodyPr wrap="square" lIns="0" tIns="0" rIns="0" bIns="0" rtlCol="0" anchor="t"/>
          <a:lstStyle/>
          <a:p>
            <a:pPr indent="0" marL="0">
              <a:buNone/>
            </a:pPr>
            <a:r>
              <a:rPr lang="en-US" sz="1600" b="1" dirty="0">
                <a:solidFill>
                  <a:schemeClr val="tx2"/>
                </a:solidFill>
              </a:rPr>
              <a:t>Keep the reader in Active mode. Never use Answer mode: it silences the buzzer and stops pushing tags.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How it works</a:t>
            </a:r>
            <a:endParaRPr lang="en-US" sz="3400" dirty="0"/>
          </a:p>
        </p:txBody>
      </p:sp>
      <p:sp>
        <p:nvSpPr>
          <p:cNvPr id="3" name="node 0"/>
          <p:cNvSpPr/>
          <p:nvPr/>
        </p:nvSpPr>
        <p:spPr>
          <a:xfrm>
            <a:off x="548640" y="1828800"/>
            <a:ext cx="1920240" cy="1600200"/>
          </a:xfrm>
          <a:prstGeom prst="roundRect">
            <a:avLst>
              <a:gd name="adj" fmla="val 6857"/>
            </a:avLst>
          </a:prstGeom>
          <a:solidFill>
            <a:srgbClr val="EEF3F6"/>
          </a:solidFill>
          <a:ln w="9525">
            <a:solidFill>
              <a:schemeClr val="bg2"/>
            </a:solidFill>
            <a:prstDash val="solid"/>
          </a:ln>
        </p:spPr>
      </p:sp>
      <p:sp>
        <p:nvSpPr>
          <p:cNvPr id="4" name="node icon 0 circle"/>
          <p:cNvSpPr/>
          <p:nvPr/>
        </p:nvSpPr>
        <p:spPr>
          <a:xfrm>
            <a:off x="1097280" y="1993392"/>
            <a:ext cx="822960" cy="822960"/>
          </a:xfrm>
          <a:prstGeom prst="ellipse">
            <a:avLst/>
          </a:prstGeom>
          <a:solidFill>
            <a:srgbClr val="FF7A1A"/>
          </a:solidFill>
          <a:ln w="12700">
            <a:solidFill>
              <a:srgbClr val="FF7A1A"/>
            </a:solidFill>
            <a:prstDash val="solid"/>
          </a:ln>
        </p:spPr>
      </p:sp>
      <p:pic>
        <p:nvPicPr>
          <p:cNvPr id="5" name="Image 0" descr="Tag icon">    </p:cNvPr>
          <p:cNvPicPr>
            <a:picLocks noChangeAspect="1"/>
          </p:cNvPicPr>
          <p:nvPr/>
        </p:nvPicPr>
        <p:blipFill>
          <a:blip r:embed="rId1"/>
          <a:stretch>
            <a:fillRect/>
          </a:stretch>
        </p:blipFill>
        <p:spPr>
          <a:xfrm>
            <a:off x="1303020" y="2199132"/>
            <a:ext cx="411480" cy="411480"/>
          </a:xfrm>
          <a:prstGeom prst="rect">
            <a:avLst/>
          </a:prstGeom>
        </p:spPr>
      </p:pic>
      <p:sp>
        <p:nvSpPr>
          <p:cNvPr id="6" name="node title 0"/>
          <p:cNvSpPr txBox="1"/>
          <p:nvPr/>
        </p:nvSpPr>
        <p:spPr>
          <a:xfrm>
            <a:off x="548640" y="2926080"/>
            <a:ext cx="1920240" cy="411480"/>
          </a:xfrm>
          <a:prstGeom prst="rect">
            <a:avLst/>
          </a:prstGeom>
          <a:noFill/>
          <a:ln/>
        </p:spPr>
        <p:txBody>
          <a:bodyPr wrap="square" lIns="0" tIns="0" rIns="0" bIns="0" rtlCol="0" anchor="t"/>
          <a:lstStyle/>
          <a:p>
            <a:pPr algn="ctr" indent="0" marL="0">
              <a:buNone/>
            </a:pPr>
            <a:r>
              <a:rPr lang="en-US" sz="1700" b="1" dirty="0">
                <a:solidFill>
                  <a:schemeClr val="tx2"/>
                </a:solidFill>
              </a:rPr>
              <a:t>UHF tag</a:t>
            </a:r>
            <a:endParaRPr lang="en-US" sz="1700" dirty="0"/>
          </a:p>
        </p:txBody>
      </p:sp>
      <p:sp>
        <p:nvSpPr>
          <p:cNvPr id="7" name="node text 0"/>
          <p:cNvSpPr txBox="1"/>
          <p:nvPr/>
        </p:nvSpPr>
        <p:spPr>
          <a:xfrm>
            <a:off x="640080" y="3611880"/>
            <a:ext cx="1737360" cy="914400"/>
          </a:xfrm>
          <a:prstGeom prst="rect">
            <a:avLst/>
          </a:prstGeom>
          <a:noFill/>
          <a:ln/>
        </p:spPr>
        <p:txBody>
          <a:bodyPr wrap="square" lIns="0" tIns="0" rIns="0" bIns="0" rtlCol="0" anchor="t"/>
          <a:lstStyle/>
          <a:p>
            <a:pPr algn="ctr" indent="0" marL="0">
              <a:buNone/>
            </a:pPr>
            <a:r>
              <a:rPr lang="en-US" sz="1500" dirty="0">
                <a:solidFill>
                  <a:schemeClr val="tx1"/>
                </a:solidFill>
              </a:rPr>
              <a:t>EPC Gen2 tag, read at 865-868 MHz</a:t>
            </a:r>
            <a:endParaRPr lang="en-US" sz="1500" dirty="0"/>
          </a:p>
        </p:txBody>
      </p:sp>
      <p:sp>
        <p:nvSpPr>
          <p:cNvPr id="8" name="node 1"/>
          <p:cNvSpPr/>
          <p:nvPr/>
        </p:nvSpPr>
        <p:spPr>
          <a:xfrm>
            <a:off x="3566160" y="1828800"/>
            <a:ext cx="1920240" cy="1600200"/>
          </a:xfrm>
          <a:prstGeom prst="roundRect">
            <a:avLst>
              <a:gd name="adj" fmla="val 6857"/>
            </a:avLst>
          </a:prstGeom>
          <a:solidFill>
            <a:srgbClr val="EEF3F6"/>
          </a:solidFill>
          <a:ln w="9525">
            <a:solidFill>
              <a:schemeClr val="bg2"/>
            </a:solidFill>
            <a:prstDash val="solid"/>
          </a:ln>
        </p:spPr>
      </p:sp>
      <p:sp>
        <p:nvSpPr>
          <p:cNvPr id="9" name="node icon 1 circle"/>
          <p:cNvSpPr/>
          <p:nvPr/>
        </p:nvSpPr>
        <p:spPr>
          <a:xfrm>
            <a:off x="4114800" y="1993392"/>
            <a:ext cx="822960" cy="822960"/>
          </a:xfrm>
          <a:prstGeom prst="ellipse">
            <a:avLst/>
          </a:prstGeom>
          <a:solidFill>
            <a:srgbClr val="1F8A9E"/>
          </a:solidFill>
          <a:ln w="12700">
            <a:solidFill>
              <a:srgbClr val="1F8A9E"/>
            </a:solidFill>
            <a:prstDash val="solid"/>
          </a:ln>
        </p:spPr>
      </p:sp>
      <p:pic>
        <p:nvPicPr>
          <p:cNvPr id="10" name="Image 1" descr="BroadcastTower icon">    </p:cNvPr>
          <p:cNvPicPr>
            <a:picLocks noChangeAspect="1"/>
          </p:cNvPicPr>
          <p:nvPr/>
        </p:nvPicPr>
        <p:blipFill>
          <a:blip r:embed="rId2"/>
          <a:stretch>
            <a:fillRect/>
          </a:stretch>
        </p:blipFill>
        <p:spPr>
          <a:xfrm>
            <a:off x="4320540" y="2199132"/>
            <a:ext cx="411480" cy="411480"/>
          </a:xfrm>
          <a:prstGeom prst="rect">
            <a:avLst/>
          </a:prstGeom>
        </p:spPr>
      </p:pic>
      <p:sp>
        <p:nvSpPr>
          <p:cNvPr id="11" name="node title 1"/>
          <p:cNvSpPr txBox="1"/>
          <p:nvPr/>
        </p:nvSpPr>
        <p:spPr>
          <a:xfrm>
            <a:off x="3566160" y="2926080"/>
            <a:ext cx="1920240" cy="411480"/>
          </a:xfrm>
          <a:prstGeom prst="rect">
            <a:avLst/>
          </a:prstGeom>
          <a:noFill/>
          <a:ln/>
        </p:spPr>
        <p:txBody>
          <a:bodyPr wrap="square" lIns="0" tIns="0" rIns="0" bIns="0" rtlCol="0" anchor="t"/>
          <a:lstStyle/>
          <a:p>
            <a:pPr algn="ctr" indent="0" marL="0">
              <a:buNone/>
            </a:pPr>
            <a:r>
              <a:rPr lang="en-US" sz="1700" b="1" dirty="0">
                <a:solidFill>
                  <a:schemeClr val="tx2"/>
                </a:solidFill>
              </a:rPr>
              <a:t>Reader</a:t>
            </a:r>
            <a:endParaRPr lang="en-US" sz="1700" dirty="0"/>
          </a:p>
        </p:txBody>
      </p:sp>
      <p:sp>
        <p:nvSpPr>
          <p:cNvPr id="12" name="node text 1"/>
          <p:cNvSpPr txBox="1"/>
          <p:nvPr/>
        </p:nvSpPr>
        <p:spPr>
          <a:xfrm>
            <a:off x="3657600" y="3611880"/>
            <a:ext cx="1737360" cy="914400"/>
          </a:xfrm>
          <a:prstGeom prst="rect">
            <a:avLst/>
          </a:prstGeom>
          <a:noFill/>
          <a:ln/>
        </p:spPr>
        <p:txBody>
          <a:bodyPr wrap="square" lIns="0" tIns="0" rIns="0" bIns="0" rtlCol="0" anchor="t"/>
          <a:lstStyle/>
          <a:p>
            <a:pPr algn="ctr" indent="0" marL="0">
              <a:buNone/>
            </a:pPr>
            <a:r>
              <a:rPr lang="en-US" sz="1500" dirty="0">
                <a:solidFill>
                  <a:schemeClr val="tx1"/>
                </a:solidFill>
              </a:rPr>
              <a:t>SN5300 / CF5300 type, pushes each read</a:t>
            </a:r>
            <a:endParaRPr lang="en-US" sz="1500" dirty="0"/>
          </a:p>
        </p:txBody>
      </p:sp>
      <p:sp>
        <p:nvSpPr>
          <p:cNvPr id="13" name="node 2"/>
          <p:cNvSpPr/>
          <p:nvPr/>
        </p:nvSpPr>
        <p:spPr>
          <a:xfrm>
            <a:off x="6583680" y="1828800"/>
            <a:ext cx="1920240" cy="1600200"/>
          </a:xfrm>
          <a:prstGeom prst="roundRect">
            <a:avLst>
              <a:gd name="adj" fmla="val 6857"/>
            </a:avLst>
          </a:prstGeom>
          <a:solidFill>
            <a:srgbClr val="EEF3F6"/>
          </a:solidFill>
          <a:ln w="9525">
            <a:solidFill>
              <a:schemeClr val="bg2"/>
            </a:solidFill>
            <a:prstDash val="solid"/>
          </a:ln>
        </p:spPr>
      </p:sp>
      <p:sp>
        <p:nvSpPr>
          <p:cNvPr id="14" name="node icon 2 circle"/>
          <p:cNvSpPr/>
          <p:nvPr/>
        </p:nvSpPr>
        <p:spPr>
          <a:xfrm>
            <a:off x="7132320" y="1993392"/>
            <a:ext cx="822960" cy="822960"/>
          </a:xfrm>
          <a:prstGeom prst="ellipse">
            <a:avLst/>
          </a:prstGeom>
          <a:solidFill>
            <a:srgbClr val="0B2B3A"/>
          </a:solidFill>
          <a:ln w="12700">
            <a:solidFill>
              <a:srgbClr val="0B2B3A"/>
            </a:solidFill>
            <a:prstDash val="solid"/>
          </a:ln>
        </p:spPr>
      </p:sp>
      <p:pic>
        <p:nvPicPr>
          <p:cNvPr id="15" name="Image 2" descr="Laptop icon">    </p:cNvPr>
          <p:cNvPicPr>
            <a:picLocks noChangeAspect="1"/>
          </p:cNvPicPr>
          <p:nvPr/>
        </p:nvPicPr>
        <p:blipFill>
          <a:blip r:embed="rId3"/>
          <a:stretch>
            <a:fillRect/>
          </a:stretch>
        </p:blipFill>
        <p:spPr>
          <a:xfrm>
            <a:off x="7338060" y="2199132"/>
            <a:ext cx="411480" cy="411480"/>
          </a:xfrm>
          <a:prstGeom prst="rect">
            <a:avLst/>
          </a:prstGeom>
        </p:spPr>
      </p:pic>
      <p:sp>
        <p:nvSpPr>
          <p:cNvPr id="16" name="node title 2"/>
          <p:cNvSpPr txBox="1"/>
          <p:nvPr/>
        </p:nvSpPr>
        <p:spPr>
          <a:xfrm>
            <a:off x="6583680" y="2926080"/>
            <a:ext cx="1920240" cy="411480"/>
          </a:xfrm>
          <a:prstGeom prst="rect">
            <a:avLst/>
          </a:prstGeom>
          <a:noFill/>
          <a:ln/>
        </p:spPr>
        <p:txBody>
          <a:bodyPr wrap="square" lIns="0" tIns="0" rIns="0" bIns="0" rtlCol="0" anchor="t"/>
          <a:lstStyle/>
          <a:p>
            <a:pPr algn="ctr" indent="0" marL="0">
              <a:buNone/>
            </a:pPr>
            <a:r>
              <a:rPr lang="en-US" sz="1700" b="1" dirty="0">
                <a:solidFill>
                  <a:schemeClr val="tx2"/>
                </a:solidFill>
              </a:rPr>
              <a:t>Selfmade Reader</a:t>
            </a:r>
            <a:endParaRPr lang="en-US" sz="1700" dirty="0"/>
          </a:p>
        </p:txBody>
      </p:sp>
      <p:sp>
        <p:nvSpPr>
          <p:cNvPr id="17" name="node text 2"/>
          <p:cNvSpPr txBox="1"/>
          <p:nvPr/>
        </p:nvSpPr>
        <p:spPr>
          <a:xfrm>
            <a:off x="6675120" y="3611880"/>
            <a:ext cx="1737360" cy="914400"/>
          </a:xfrm>
          <a:prstGeom prst="rect">
            <a:avLst/>
          </a:prstGeom>
          <a:noFill/>
          <a:ln/>
        </p:spPr>
        <p:txBody>
          <a:bodyPr wrap="square" lIns="0" tIns="0" rIns="0" bIns="0" rtlCol="0" anchor="t"/>
          <a:lstStyle/>
          <a:p>
            <a:pPr algn="ctr" indent="0" marL="0">
              <a:buNone/>
            </a:pPr>
            <a:r>
              <a:rPr lang="en-US" sz="1500" dirty="0">
                <a:solidFill>
                  <a:schemeClr val="tx1"/>
                </a:solidFill>
              </a:rPr>
              <a:t>Listens on port 6000, shows and stores tags</a:t>
            </a:r>
            <a:endParaRPr lang="en-US" sz="1500" dirty="0"/>
          </a:p>
        </p:txBody>
      </p:sp>
      <p:sp>
        <p:nvSpPr>
          <p:cNvPr id="18" name="output 0"/>
          <p:cNvSpPr/>
          <p:nvPr/>
        </p:nvSpPr>
        <p:spPr>
          <a:xfrm>
            <a:off x="9601200" y="1508760"/>
            <a:ext cx="1920240" cy="548640"/>
          </a:xfrm>
          <a:prstGeom prst="roundRect">
            <a:avLst>
              <a:gd name="adj" fmla="val 16667"/>
            </a:avLst>
          </a:prstGeom>
          <a:solidFill>
            <a:srgbClr val="EEF3F6"/>
          </a:solidFill>
          <a:ln w="9525">
            <a:solidFill>
              <a:schemeClr val="bg2"/>
            </a:solidFill>
            <a:prstDash val="solid"/>
          </a:ln>
        </p:spPr>
      </p:sp>
      <p:pic>
        <p:nvPicPr>
          <p:cNvPr id="19" name="Image 3" descr="CSV file icon">    </p:cNvPr>
          <p:cNvPicPr>
            <a:picLocks noChangeAspect="1"/>
          </p:cNvPicPr>
          <p:nvPr/>
        </p:nvPicPr>
        <p:blipFill>
          <a:blip r:embed="rId4"/>
          <a:stretch>
            <a:fillRect/>
          </a:stretch>
        </p:blipFill>
        <p:spPr>
          <a:xfrm>
            <a:off x="9738360" y="1636776"/>
            <a:ext cx="292608" cy="292608"/>
          </a:xfrm>
          <a:prstGeom prst="rect">
            <a:avLst/>
          </a:prstGeom>
        </p:spPr>
      </p:pic>
      <p:sp>
        <p:nvSpPr>
          <p:cNvPr id="20" name="output text 0"/>
          <p:cNvSpPr txBox="1"/>
          <p:nvPr/>
        </p:nvSpPr>
        <p:spPr>
          <a:xfrm>
            <a:off x="10195560" y="1600200"/>
            <a:ext cx="1280160" cy="365760"/>
          </a:xfrm>
          <a:prstGeom prst="rect">
            <a:avLst/>
          </a:prstGeom>
          <a:noFill/>
          <a:ln/>
        </p:spPr>
        <p:txBody>
          <a:bodyPr wrap="square" lIns="0" tIns="0" rIns="0" bIns="0" rtlCol="0" anchor="ctr"/>
          <a:lstStyle/>
          <a:p>
            <a:pPr indent="0" marL="0">
              <a:buNone/>
            </a:pPr>
            <a:r>
              <a:rPr lang="en-US" sz="1400" dirty="0">
                <a:solidFill>
                  <a:schemeClr val="tx1"/>
                </a:solidFill>
              </a:rPr>
              <a:t>CSV file</a:t>
            </a:r>
            <a:endParaRPr lang="en-US" sz="1400" dirty="0"/>
          </a:p>
        </p:txBody>
      </p:sp>
      <p:sp>
        <p:nvSpPr>
          <p:cNvPr id="21" name="output 1"/>
          <p:cNvSpPr/>
          <p:nvPr/>
        </p:nvSpPr>
        <p:spPr>
          <a:xfrm>
            <a:off x="9601200" y="2167128"/>
            <a:ext cx="1920240" cy="548640"/>
          </a:xfrm>
          <a:prstGeom prst="roundRect">
            <a:avLst>
              <a:gd name="adj" fmla="val 16667"/>
            </a:avLst>
          </a:prstGeom>
          <a:solidFill>
            <a:srgbClr val="EEF3F6"/>
          </a:solidFill>
          <a:ln w="9525">
            <a:solidFill>
              <a:schemeClr val="bg2"/>
            </a:solidFill>
            <a:prstDash val="solid"/>
          </a:ln>
        </p:spPr>
      </p:sp>
      <p:pic>
        <p:nvPicPr>
          <p:cNvPr id="22" name="Image 4" descr="HTTP webhook icon">    </p:cNvPr>
          <p:cNvPicPr>
            <a:picLocks noChangeAspect="1"/>
          </p:cNvPicPr>
          <p:nvPr/>
        </p:nvPicPr>
        <p:blipFill>
          <a:blip r:embed="rId5"/>
          <a:stretch>
            <a:fillRect/>
          </a:stretch>
        </p:blipFill>
        <p:spPr>
          <a:xfrm>
            <a:off x="9738360" y="2295144"/>
            <a:ext cx="292608" cy="292608"/>
          </a:xfrm>
          <a:prstGeom prst="rect">
            <a:avLst/>
          </a:prstGeom>
        </p:spPr>
      </p:pic>
      <p:sp>
        <p:nvSpPr>
          <p:cNvPr id="23" name="output text 1"/>
          <p:cNvSpPr txBox="1"/>
          <p:nvPr/>
        </p:nvSpPr>
        <p:spPr>
          <a:xfrm>
            <a:off x="10195560" y="2258568"/>
            <a:ext cx="1280160" cy="365760"/>
          </a:xfrm>
          <a:prstGeom prst="rect">
            <a:avLst/>
          </a:prstGeom>
          <a:noFill/>
          <a:ln/>
        </p:spPr>
        <p:txBody>
          <a:bodyPr wrap="square" lIns="0" tIns="0" rIns="0" bIns="0" rtlCol="0" anchor="ctr"/>
          <a:lstStyle/>
          <a:p>
            <a:pPr indent="0" marL="0">
              <a:buNone/>
            </a:pPr>
            <a:r>
              <a:rPr lang="en-US" sz="1400" dirty="0">
                <a:solidFill>
                  <a:schemeClr val="tx1"/>
                </a:solidFill>
              </a:rPr>
              <a:t>HTTP webhook</a:t>
            </a:r>
            <a:endParaRPr lang="en-US" sz="1400" dirty="0"/>
          </a:p>
        </p:txBody>
      </p:sp>
      <p:sp>
        <p:nvSpPr>
          <p:cNvPr id="24" name="output 2"/>
          <p:cNvSpPr/>
          <p:nvPr/>
        </p:nvSpPr>
        <p:spPr>
          <a:xfrm>
            <a:off x="9601200" y="2825496"/>
            <a:ext cx="1920240" cy="548640"/>
          </a:xfrm>
          <a:prstGeom prst="roundRect">
            <a:avLst>
              <a:gd name="adj" fmla="val 16667"/>
            </a:avLst>
          </a:prstGeom>
          <a:solidFill>
            <a:srgbClr val="EEF3F6"/>
          </a:solidFill>
          <a:ln w="9525">
            <a:solidFill>
              <a:schemeClr val="bg2"/>
            </a:solidFill>
            <a:prstDash val="solid"/>
          </a:ln>
        </p:spPr>
      </p:sp>
      <p:pic>
        <p:nvPicPr>
          <p:cNvPr id="25" name="Image 5" descr="MQTT broker icon">    </p:cNvPr>
          <p:cNvPicPr>
            <a:picLocks noChangeAspect="1"/>
          </p:cNvPicPr>
          <p:nvPr/>
        </p:nvPicPr>
        <p:blipFill>
          <a:blip r:embed="rId6"/>
          <a:stretch>
            <a:fillRect/>
          </a:stretch>
        </p:blipFill>
        <p:spPr>
          <a:xfrm>
            <a:off x="9738360" y="2953512"/>
            <a:ext cx="292608" cy="292608"/>
          </a:xfrm>
          <a:prstGeom prst="rect">
            <a:avLst/>
          </a:prstGeom>
        </p:spPr>
      </p:pic>
      <p:sp>
        <p:nvSpPr>
          <p:cNvPr id="26" name="output text 2"/>
          <p:cNvSpPr txBox="1"/>
          <p:nvPr/>
        </p:nvSpPr>
        <p:spPr>
          <a:xfrm>
            <a:off x="10195560" y="2916936"/>
            <a:ext cx="1280160" cy="365760"/>
          </a:xfrm>
          <a:prstGeom prst="rect">
            <a:avLst/>
          </a:prstGeom>
          <a:noFill/>
          <a:ln/>
        </p:spPr>
        <p:txBody>
          <a:bodyPr wrap="square" lIns="0" tIns="0" rIns="0" bIns="0" rtlCol="0" anchor="ctr"/>
          <a:lstStyle/>
          <a:p>
            <a:pPr indent="0" marL="0">
              <a:buNone/>
            </a:pPr>
            <a:r>
              <a:rPr lang="en-US" sz="1400" dirty="0">
                <a:solidFill>
                  <a:schemeClr val="tx1"/>
                </a:solidFill>
              </a:rPr>
              <a:t>MQTT broker</a:t>
            </a:r>
            <a:endParaRPr lang="en-US" sz="1400" dirty="0"/>
          </a:p>
        </p:txBody>
      </p:sp>
      <p:sp>
        <p:nvSpPr>
          <p:cNvPr id="27" name="output 3"/>
          <p:cNvSpPr/>
          <p:nvPr/>
        </p:nvSpPr>
        <p:spPr>
          <a:xfrm>
            <a:off x="9601200" y="3483864"/>
            <a:ext cx="1920240" cy="548640"/>
          </a:xfrm>
          <a:prstGeom prst="roundRect">
            <a:avLst>
              <a:gd name="adj" fmla="val 16667"/>
            </a:avLst>
          </a:prstGeom>
          <a:solidFill>
            <a:srgbClr val="EEF3F6"/>
          </a:solidFill>
          <a:ln w="9525">
            <a:solidFill>
              <a:schemeClr val="bg2"/>
            </a:solidFill>
            <a:prstDash val="solid"/>
          </a:ln>
        </p:spPr>
      </p:sp>
      <p:pic>
        <p:nvPicPr>
          <p:cNvPr id="28" name="Image 6" descr="TCP server icon">    </p:cNvPr>
          <p:cNvPicPr>
            <a:picLocks noChangeAspect="1"/>
          </p:cNvPicPr>
          <p:nvPr/>
        </p:nvPicPr>
        <p:blipFill>
          <a:blip r:embed="rId7"/>
          <a:stretch>
            <a:fillRect/>
          </a:stretch>
        </p:blipFill>
        <p:spPr>
          <a:xfrm>
            <a:off x="9738360" y="3611880"/>
            <a:ext cx="292608" cy="292608"/>
          </a:xfrm>
          <a:prstGeom prst="rect">
            <a:avLst/>
          </a:prstGeom>
        </p:spPr>
      </p:pic>
      <p:sp>
        <p:nvSpPr>
          <p:cNvPr id="29" name="output text 3"/>
          <p:cNvSpPr txBox="1"/>
          <p:nvPr/>
        </p:nvSpPr>
        <p:spPr>
          <a:xfrm>
            <a:off x="10195560" y="3575304"/>
            <a:ext cx="1280160" cy="365760"/>
          </a:xfrm>
          <a:prstGeom prst="rect">
            <a:avLst/>
          </a:prstGeom>
          <a:noFill/>
          <a:ln/>
        </p:spPr>
        <p:txBody>
          <a:bodyPr wrap="square" lIns="0" tIns="0" rIns="0" bIns="0" rtlCol="0" anchor="ctr"/>
          <a:lstStyle/>
          <a:p>
            <a:pPr indent="0" marL="0">
              <a:buNone/>
            </a:pPr>
            <a:r>
              <a:rPr lang="en-US" sz="1400" dirty="0">
                <a:solidFill>
                  <a:schemeClr val="tx1"/>
                </a:solidFill>
              </a:rPr>
              <a:t>TCP server</a:t>
            </a:r>
            <a:endParaRPr lang="en-US" sz="1400" dirty="0"/>
          </a:p>
        </p:txBody>
      </p:sp>
      <p:sp>
        <p:nvSpPr>
          <p:cNvPr id="30" name="outputs title"/>
          <p:cNvSpPr txBox="1"/>
          <p:nvPr/>
        </p:nvSpPr>
        <p:spPr>
          <a:xfrm>
            <a:off x="9601200" y="4251960"/>
            <a:ext cx="1920240" cy="365760"/>
          </a:xfrm>
          <a:prstGeom prst="rect">
            <a:avLst/>
          </a:prstGeom>
          <a:noFill/>
          <a:ln/>
        </p:spPr>
        <p:txBody>
          <a:bodyPr wrap="square" lIns="0" tIns="0" rIns="0" bIns="0" rtlCol="0" anchor="t"/>
          <a:lstStyle/>
          <a:p>
            <a:pPr algn="ctr" indent="0" marL="0">
              <a:buNone/>
            </a:pPr>
            <a:r>
              <a:rPr lang="en-US" sz="1800" b="1" dirty="0">
                <a:solidFill>
                  <a:schemeClr val="tx2"/>
                </a:solidFill>
              </a:rPr>
              <a:t>Outputs</a:t>
            </a:r>
            <a:endParaRPr lang="en-US" sz="1800" dirty="0"/>
          </a:p>
        </p:txBody>
      </p:sp>
      <p:sp>
        <p:nvSpPr>
          <p:cNvPr id="31" name="outputs text"/>
          <p:cNvSpPr txBox="1"/>
          <p:nvPr/>
        </p:nvSpPr>
        <p:spPr>
          <a:xfrm>
            <a:off x="9601200" y="4617720"/>
            <a:ext cx="1920240" cy="822960"/>
          </a:xfrm>
          <a:prstGeom prst="rect">
            <a:avLst/>
          </a:prstGeom>
          <a:noFill/>
          <a:ln/>
        </p:spPr>
        <p:txBody>
          <a:bodyPr wrap="square" lIns="0" tIns="0" rIns="0" bIns="0" rtlCol="0" anchor="t"/>
          <a:lstStyle/>
          <a:p>
            <a:pPr algn="ctr" indent="0" marL="0">
              <a:buNone/>
            </a:pPr>
            <a:r>
              <a:rPr lang="en-US" sz="1300" dirty="0">
                <a:solidFill>
                  <a:schemeClr val="tx1"/>
                </a:solidFill>
              </a:rPr>
              <a:t>Saved and sent over any network</a:t>
            </a:r>
            <a:endParaRPr lang="en-US" sz="1300" dirty="0"/>
          </a:p>
        </p:txBody>
      </p:sp>
      <p:sp>
        <p:nvSpPr>
          <p:cNvPr id="32" name="arrow"/>
          <p:cNvSpPr/>
          <p:nvPr/>
        </p:nvSpPr>
        <p:spPr>
          <a:xfrm>
            <a:off x="2542032" y="2628900"/>
            <a:ext cx="950976" cy="0"/>
          </a:xfrm>
          <a:prstGeom prst="line">
            <a:avLst/>
          </a:prstGeom>
          <a:noFill/>
          <a:ln w="28575">
            <a:solidFill>
              <a:srgbClr val="6C7A89"/>
            </a:solidFill>
            <a:prstDash val="solid"/>
            <a:tailEnd type="triangle"/>
          </a:ln>
        </p:spPr>
      </p:sp>
      <p:sp>
        <p:nvSpPr>
          <p:cNvPr id="33" name="arrow label 0"/>
          <p:cNvSpPr txBox="1"/>
          <p:nvPr/>
        </p:nvSpPr>
        <p:spPr>
          <a:xfrm>
            <a:off x="2468880" y="2171700"/>
            <a:ext cx="1097280" cy="365760"/>
          </a:xfrm>
          <a:prstGeom prst="rect">
            <a:avLst/>
          </a:prstGeom>
          <a:noFill/>
          <a:ln/>
        </p:spPr>
        <p:txBody>
          <a:bodyPr wrap="square" lIns="0" tIns="0" rIns="0" bIns="0" rtlCol="0" anchor="t"/>
          <a:lstStyle/>
          <a:p>
            <a:pPr algn="ctr" indent="0" marL="0">
              <a:buNone/>
            </a:pPr>
            <a:r>
              <a:rPr lang="en-US" sz="1300" dirty="0">
                <a:solidFill>
                  <a:schemeClr val="accent5"/>
                </a:solidFill>
              </a:rPr>
              <a:t>868 MHz</a:t>
            </a:r>
            <a:endParaRPr lang="en-US" sz="1300" dirty="0"/>
          </a:p>
        </p:txBody>
      </p:sp>
      <p:sp>
        <p:nvSpPr>
          <p:cNvPr id="34" name="arrow"/>
          <p:cNvSpPr/>
          <p:nvPr/>
        </p:nvSpPr>
        <p:spPr>
          <a:xfrm>
            <a:off x="5559552" y="2628900"/>
            <a:ext cx="950976" cy="0"/>
          </a:xfrm>
          <a:prstGeom prst="line">
            <a:avLst/>
          </a:prstGeom>
          <a:noFill/>
          <a:ln w="28575">
            <a:solidFill>
              <a:srgbClr val="6C7A89"/>
            </a:solidFill>
            <a:prstDash val="solid"/>
            <a:tailEnd type="triangle"/>
          </a:ln>
        </p:spPr>
      </p:sp>
      <p:sp>
        <p:nvSpPr>
          <p:cNvPr id="35" name="arrow label 1"/>
          <p:cNvSpPr txBox="1"/>
          <p:nvPr/>
        </p:nvSpPr>
        <p:spPr>
          <a:xfrm>
            <a:off x="5486400" y="2171700"/>
            <a:ext cx="1097280" cy="365760"/>
          </a:xfrm>
          <a:prstGeom prst="rect">
            <a:avLst/>
          </a:prstGeom>
          <a:noFill/>
          <a:ln/>
        </p:spPr>
        <p:txBody>
          <a:bodyPr wrap="square" lIns="0" tIns="0" rIns="0" bIns="0" rtlCol="0" anchor="t"/>
          <a:lstStyle/>
          <a:p>
            <a:pPr algn="ctr" indent="0" marL="0">
              <a:buNone/>
            </a:pPr>
            <a:r>
              <a:rPr lang="en-US" sz="1300" dirty="0">
                <a:solidFill>
                  <a:schemeClr val="accent5"/>
                </a:solidFill>
              </a:rPr>
              <a:t>Ethernet</a:t>
            </a:r>
            <a:endParaRPr lang="en-US" sz="1300" dirty="0"/>
          </a:p>
        </p:txBody>
      </p:sp>
      <p:sp>
        <p:nvSpPr>
          <p:cNvPr id="36" name="arrow"/>
          <p:cNvSpPr/>
          <p:nvPr/>
        </p:nvSpPr>
        <p:spPr>
          <a:xfrm>
            <a:off x="8577072" y="2628900"/>
            <a:ext cx="950976" cy="0"/>
          </a:xfrm>
          <a:prstGeom prst="line">
            <a:avLst/>
          </a:prstGeom>
          <a:noFill/>
          <a:ln w="28575">
            <a:solidFill>
              <a:srgbClr val="6C7A89"/>
            </a:solidFill>
            <a:prstDash val="solid"/>
            <a:tailEnd type="triangle"/>
          </a:ln>
        </p:spPr>
      </p:sp>
      <p:sp>
        <p:nvSpPr>
          <p:cNvPr id="37" name="arrow label 2"/>
          <p:cNvSpPr txBox="1"/>
          <p:nvPr/>
        </p:nvSpPr>
        <p:spPr>
          <a:xfrm>
            <a:off x="8503920" y="2171700"/>
            <a:ext cx="1097280" cy="365760"/>
          </a:xfrm>
          <a:prstGeom prst="rect">
            <a:avLst/>
          </a:prstGeom>
          <a:noFill/>
          <a:ln/>
        </p:spPr>
        <p:txBody>
          <a:bodyPr wrap="square" lIns="0" tIns="0" rIns="0" bIns="0" rtlCol="0" anchor="t"/>
          <a:lstStyle/>
          <a:p>
            <a:pPr algn="ctr" indent="0" marL="0">
              <a:buNone/>
            </a:pPr>
            <a:r>
              <a:rPr lang="en-US" sz="1300" dirty="0">
                <a:solidFill>
                  <a:schemeClr val="accent5"/>
                </a:solidFill>
              </a:rPr>
              <a:t>save, send</a:t>
            </a:r>
            <a:endParaRPr lang="en-US" sz="1300" dirty="0"/>
          </a:p>
        </p:txBody>
      </p:sp>
      <p:sp>
        <p:nvSpPr>
          <p:cNvPr id="38" name="Architecture takeaway"/>
          <p:cNvSpPr txBox="1"/>
          <p:nvPr/>
        </p:nvSpPr>
        <p:spPr>
          <a:xfrm>
            <a:off x="548640" y="5715000"/>
            <a:ext cx="11094415" cy="548640"/>
          </a:xfrm>
          <a:prstGeom prst="rect">
            <a:avLst/>
          </a:prstGeom>
          <a:noFill/>
          <a:ln/>
        </p:spPr>
        <p:txBody>
          <a:bodyPr wrap="square" lIns="0" tIns="0" rIns="0" bIns="0" rtlCol="0" anchor="t"/>
          <a:lstStyle/>
          <a:p>
            <a:pPr indent="0" marL="0">
              <a:buNone/>
            </a:pPr>
            <a:r>
              <a:rPr lang="en-US" sz="1800" b="1" dirty="0">
                <a:solidFill>
                  <a:schemeClr val="tx2"/>
                </a:solidFill>
              </a:rPr>
              <a:t>Tags go straight from the reader to your computer: no cloud and no vendor software needed.</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Two connections, two jobs</a:t>
            </a:r>
            <a:endParaRPr lang="en-US" sz="3400" dirty="0"/>
          </a:p>
        </p:txBody>
      </p:sp>
      <p:sp>
        <p:nvSpPr>
          <p:cNvPr id="3" name="cmd card"/>
          <p:cNvSpPr/>
          <p:nvPr/>
        </p:nvSpPr>
        <p:spPr>
          <a:xfrm>
            <a:off x="548640" y="1554480"/>
            <a:ext cx="5349240" cy="2514600"/>
          </a:xfrm>
          <a:prstGeom prst="roundRect">
            <a:avLst>
              <a:gd name="adj" fmla="val 4364"/>
            </a:avLst>
          </a:prstGeom>
          <a:solidFill>
            <a:srgbClr val="EEF3F6"/>
          </a:solidFill>
          <a:ln w="9525">
            <a:solidFill>
              <a:schemeClr val="bg2"/>
            </a:solidFill>
            <a:prstDash val="solid"/>
          </a:ln>
        </p:spPr>
      </p:sp>
      <p:sp>
        <p:nvSpPr>
          <p:cNvPr id="4" name="cmd circle"/>
          <p:cNvSpPr/>
          <p:nvPr/>
        </p:nvSpPr>
        <p:spPr>
          <a:xfrm>
            <a:off x="822960" y="1783080"/>
            <a:ext cx="731520" cy="731520"/>
          </a:xfrm>
          <a:prstGeom prst="ellipse">
            <a:avLst/>
          </a:prstGeom>
          <a:solidFill>
            <a:srgbClr val="1F8A9E"/>
          </a:solidFill>
          <a:ln w="12700">
            <a:solidFill>
              <a:srgbClr val="1F8A9E"/>
            </a:solidFill>
            <a:prstDash val="solid"/>
          </a:ln>
        </p:spPr>
      </p:sp>
      <p:pic>
        <p:nvPicPr>
          <p:cNvPr id="5" name="Image 0" descr="SlidersH icon">    </p:cNvPr>
          <p:cNvPicPr>
            <a:picLocks noChangeAspect="1"/>
          </p:cNvPicPr>
          <p:nvPr/>
        </p:nvPicPr>
        <p:blipFill>
          <a:blip r:embed="rId1"/>
          <a:stretch>
            <a:fillRect/>
          </a:stretch>
        </p:blipFill>
        <p:spPr>
          <a:xfrm>
            <a:off x="1005840" y="1965960"/>
            <a:ext cx="365760" cy="365760"/>
          </a:xfrm>
          <a:prstGeom prst="rect">
            <a:avLst/>
          </a:prstGeom>
        </p:spPr>
      </p:pic>
      <p:sp>
        <p:nvSpPr>
          <p:cNvPr id="6" name="cmd title"/>
          <p:cNvSpPr txBox="1"/>
          <p:nvPr/>
        </p:nvSpPr>
        <p:spPr>
          <a:xfrm>
            <a:off x="1737360" y="1783080"/>
            <a:ext cx="3931920" cy="365760"/>
          </a:xfrm>
          <a:prstGeom prst="rect">
            <a:avLst/>
          </a:prstGeom>
          <a:noFill/>
          <a:ln/>
        </p:spPr>
        <p:txBody>
          <a:bodyPr wrap="square" lIns="0" tIns="0" rIns="0" bIns="0" rtlCol="0" anchor="t"/>
          <a:lstStyle/>
          <a:p>
            <a:pPr indent="0" marL="0">
              <a:buNone/>
            </a:pPr>
            <a:r>
              <a:rPr lang="en-US" sz="2200" b="1" dirty="0">
                <a:solidFill>
                  <a:schemeClr val="tx2"/>
                </a:solidFill>
              </a:rPr>
              <a:t>Settings</a:t>
            </a:r>
            <a:endParaRPr lang="en-US" sz="2200" dirty="0"/>
          </a:p>
        </p:txBody>
      </p:sp>
      <p:sp>
        <p:nvSpPr>
          <p:cNvPr id="7" name="cmd sub"/>
          <p:cNvSpPr txBox="1"/>
          <p:nvPr/>
        </p:nvSpPr>
        <p:spPr>
          <a:xfrm>
            <a:off x="1737360" y="2194560"/>
            <a:ext cx="4023360" cy="365760"/>
          </a:xfrm>
          <a:prstGeom prst="rect">
            <a:avLst/>
          </a:prstGeom>
          <a:noFill/>
          <a:ln/>
        </p:spPr>
        <p:txBody>
          <a:bodyPr wrap="square" lIns="0" tIns="0" rIns="0" bIns="0" rtlCol="0" anchor="t"/>
          <a:lstStyle/>
          <a:p>
            <a:pPr indent="0" marL="0">
              <a:buNone/>
            </a:pPr>
            <a:r>
              <a:rPr lang="en-US" sz="1600" b="1" dirty="0">
                <a:solidFill>
                  <a:schemeClr val="accent1"/>
                </a:solidFill>
              </a:rPr>
              <a:t>PC to reader  ·  TCP 60000</a:t>
            </a:r>
            <a:endParaRPr lang="en-US" sz="1600" dirty="0"/>
          </a:p>
        </p:txBody>
      </p:sp>
      <p:sp>
        <p:nvSpPr>
          <p:cNvPr id="8" name="cmd text"/>
          <p:cNvSpPr txBox="1"/>
          <p:nvPr/>
        </p:nvSpPr>
        <p:spPr>
          <a:xfrm>
            <a:off x="822960" y="2926080"/>
            <a:ext cx="4800600" cy="914400"/>
          </a:xfrm>
          <a:prstGeom prst="rect">
            <a:avLst/>
          </a:prstGeom>
          <a:noFill/>
          <a:ln/>
        </p:spPr>
        <p:txBody>
          <a:bodyPr wrap="square" lIns="0" tIns="0" rIns="0" bIns="0" rtlCol="0" anchor="t"/>
          <a:lstStyle/>
          <a:p>
            <a:pPr indent="0" marL="0">
              <a:buNone/>
            </a:pPr>
            <a:r>
              <a:rPr lang="en-US" sz="1600" dirty="0">
                <a:solidFill>
                  <a:schemeClr val="tx1"/>
                </a:solidFill>
              </a:rPr>
              <a:t>Read and write the reader's settings, restart it. A backup is saved before every change.</a:t>
            </a:r>
            <a:endParaRPr lang="en-US" sz="1600" dirty="0"/>
          </a:p>
        </p:txBody>
      </p:sp>
      <p:sp>
        <p:nvSpPr>
          <p:cNvPr id="9" name="push card"/>
          <p:cNvSpPr/>
          <p:nvPr/>
        </p:nvSpPr>
        <p:spPr>
          <a:xfrm>
            <a:off x="6293815" y="1554480"/>
            <a:ext cx="5349240" cy="2514600"/>
          </a:xfrm>
          <a:prstGeom prst="roundRect">
            <a:avLst>
              <a:gd name="adj" fmla="val 4364"/>
            </a:avLst>
          </a:prstGeom>
          <a:solidFill>
            <a:srgbClr val="EEF3F6"/>
          </a:solidFill>
          <a:ln w="9525">
            <a:solidFill>
              <a:schemeClr val="bg2"/>
            </a:solidFill>
            <a:prstDash val="solid"/>
          </a:ln>
        </p:spPr>
      </p:sp>
      <p:sp>
        <p:nvSpPr>
          <p:cNvPr id="10" name="push circle"/>
          <p:cNvSpPr/>
          <p:nvPr/>
        </p:nvSpPr>
        <p:spPr>
          <a:xfrm>
            <a:off x="6568135" y="1783080"/>
            <a:ext cx="731520" cy="731520"/>
          </a:xfrm>
          <a:prstGeom prst="ellipse">
            <a:avLst/>
          </a:prstGeom>
          <a:solidFill>
            <a:srgbClr val="FF7A1A"/>
          </a:solidFill>
          <a:ln w="12700">
            <a:solidFill>
              <a:srgbClr val="FF7A1A"/>
            </a:solidFill>
            <a:prstDash val="solid"/>
          </a:ln>
        </p:spPr>
      </p:sp>
      <p:pic>
        <p:nvPicPr>
          <p:cNvPr id="11" name="Image 1" descr="Bolt icon">    </p:cNvPr>
          <p:cNvPicPr>
            <a:picLocks noChangeAspect="1"/>
          </p:cNvPicPr>
          <p:nvPr/>
        </p:nvPicPr>
        <p:blipFill>
          <a:blip r:embed="rId2"/>
          <a:stretch>
            <a:fillRect/>
          </a:stretch>
        </p:blipFill>
        <p:spPr>
          <a:xfrm>
            <a:off x="6751015" y="1965960"/>
            <a:ext cx="365760" cy="365760"/>
          </a:xfrm>
          <a:prstGeom prst="rect">
            <a:avLst/>
          </a:prstGeom>
        </p:spPr>
      </p:pic>
      <p:sp>
        <p:nvSpPr>
          <p:cNvPr id="12" name="push title"/>
          <p:cNvSpPr txBox="1"/>
          <p:nvPr/>
        </p:nvSpPr>
        <p:spPr>
          <a:xfrm>
            <a:off x="7482535" y="1783080"/>
            <a:ext cx="3931920" cy="365760"/>
          </a:xfrm>
          <a:prstGeom prst="rect">
            <a:avLst/>
          </a:prstGeom>
          <a:noFill/>
          <a:ln/>
        </p:spPr>
        <p:txBody>
          <a:bodyPr wrap="square" lIns="0" tIns="0" rIns="0" bIns="0" rtlCol="0" anchor="t"/>
          <a:lstStyle/>
          <a:p>
            <a:pPr indent="0" marL="0">
              <a:buNone/>
            </a:pPr>
            <a:r>
              <a:rPr lang="en-US" sz="2200" b="1" dirty="0">
                <a:solidFill>
                  <a:schemeClr val="tx2"/>
                </a:solidFill>
              </a:rPr>
              <a:t>Tag data</a:t>
            </a:r>
            <a:endParaRPr lang="en-US" sz="2200" dirty="0"/>
          </a:p>
        </p:txBody>
      </p:sp>
      <p:sp>
        <p:nvSpPr>
          <p:cNvPr id="13" name="push sub"/>
          <p:cNvSpPr txBox="1"/>
          <p:nvPr/>
        </p:nvSpPr>
        <p:spPr>
          <a:xfrm>
            <a:off x="7482535" y="2194560"/>
            <a:ext cx="4023360" cy="365760"/>
          </a:xfrm>
          <a:prstGeom prst="rect">
            <a:avLst/>
          </a:prstGeom>
          <a:noFill/>
          <a:ln/>
        </p:spPr>
        <p:txBody>
          <a:bodyPr wrap="square" lIns="0" tIns="0" rIns="0" bIns="0" rtlCol="0" anchor="t"/>
          <a:lstStyle/>
          <a:p>
            <a:pPr indent="0" marL="0">
              <a:buNone/>
            </a:pPr>
            <a:r>
              <a:rPr lang="en-US" sz="1600" b="1" dirty="0">
                <a:solidFill>
                  <a:schemeClr val="accent2"/>
                </a:solidFill>
              </a:rPr>
              <a:t>Reader to PC  ·  TCP 6000</a:t>
            </a:r>
            <a:endParaRPr lang="en-US" sz="1600" dirty="0"/>
          </a:p>
        </p:txBody>
      </p:sp>
      <p:sp>
        <p:nvSpPr>
          <p:cNvPr id="14" name="push text"/>
          <p:cNvSpPr txBox="1"/>
          <p:nvPr/>
        </p:nvSpPr>
        <p:spPr>
          <a:xfrm>
            <a:off x="6568135" y="2926080"/>
            <a:ext cx="4800600" cy="914400"/>
          </a:xfrm>
          <a:prstGeom prst="rect">
            <a:avLst/>
          </a:prstGeom>
          <a:noFill/>
          <a:ln/>
        </p:spPr>
        <p:txBody>
          <a:bodyPr wrap="square" lIns="0" tIns="0" rIns="0" bIns="0" rtlCol="0" anchor="t"/>
          <a:lstStyle/>
          <a:p>
            <a:pPr indent="0" marL="0">
              <a:buNone/>
            </a:pPr>
            <a:r>
              <a:rPr lang="en-US" sz="1600" dirty="0">
                <a:solidFill>
                  <a:schemeClr val="tx1"/>
                </a:solidFill>
              </a:rPr>
              <a:t>The reader connects to the computer and pushes every tag: EPC, signal strength (RSSI) and antenna.</a:t>
            </a:r>
            <a:endParaRPr lang="en-US" sz="1600" dirty="0"/>
          </a:p>
        </p:txBody>
      </p:sp>
      <p:sp>
        <p:nvSpPr>
          <p:cNvPr id="15" name="frame caption"/>
          <p:cNvSpPr txBox="1"/>
          <p:nvPr/>
        </p:nvSpPr>
        <p:spPr>
          <a:xfrm>
            <a:off x="548640" y="4434840"/>
            <a:ext cx="11094415" cy="320040"/>
          </a:xfrm>
          <a:prstGeom prst="rect">
            <a:avLst/>
          </a:prstGeom>
          <a:noFill/>
          <a:ln/>
        </p:spPr>
        <p:txBody>
          <a:bodyPr wrap="square" lIns="0" tIns="0" rIns="0" bIns="0" rtlCol="0" anchor="t"/>
          <a:lstStyle/>
          <a:p>
            <a:pPr indent="0" marL="0">
              <a:buNone/>
            </a:pPr>
            <a:r>
              <a:rPr lang="en-US" sz="1400" dirty="0">
                <a:solidFill>
                  <a:schemeClr val="accent5"/>
                </a:solidFill>
              </a:rPr>
              <a:t>What one pushed tag message looks like</a:t>
            </a:r>
            <a:endParaRPr lang="en-US" sz="1400" dirty="0"/>
          </a:p>
        </p:txBody>
      </p:sp>
      <p:sp>
        <p:nvSpPr>
          <p:cNvPr id="16" name="frame box"/>
          <p:cNvSpPr/>
          <p:nvPr/>
        </p:nvSpPr>
        <p:spPr>
          <a:xfrm>
            <a:off x="548640" y="4800600"/>
            <a:ext cx="11094415" cy="1143000"/>
          </a:xfrm>
          <a:prstGeom prst="roundRect">
            <a:avLst>
              <a:gd name="adj" fmla="val 8000"/>
            </a:avLst>
          </a:prstGeom>
          <a:solidFill>
            <a:schemeClr val="tx2"/>
          </a:solidFill>
          <a:ln w="12700">
            <a:solidFill>
              <a:schemeClr val="tx2"/>
            </a:solidFill>
            <a:prstDash val="solid"/>
          </a:ln>
        </p:spPr>
      </p:sp>
      <p:sp>
        <p:nvSpPr>
          <p:cNvPr id="17" name="frame hex"/>
          <p:cNvSpPr txBox="1"/>
          <p:nvPr/>
        </p:nvSpPr>
        <p:spPr>
          <a:xfrm>
            <a:off x="822960" y="4937760"/>
            <a:ext cx="10545775" cy="411480"/>
          </a:xfrm>
          <a:prstGeom prst="rect">
            <a:avLst/>
          </a:prstGeom>
          <a:noFill/>
          <a:ln/>
        </p:spPr>
        <p:txBody>
          <a:bodyPr wrap="square" lIns="0" tIns="0" rIns="0" bIns="0" rtlCol="0" anchor="t"/>
          <a:lstStyle/>
          <a:p>
            <a:pPr indent="0" marL="0">
              <a:buNone/>
            </a:pPr>
            <a:r>
              <a:rPr lang="en-US" sz="1300" dirty="0">
                <a:solidFill>
                  <a:schemeClr val="bg2"/>
                </a:solidFill>
                <a:latin typeface="Courier New" pitchFamily="34" charset="0"/>
                <a:ea typeface="Courier New" pitchFamily="34" charset="-122"/>
                <a:cs typeface="Courier New" pitchFamily="34" charset="-120"/>
              </a:rPr>
              <a:t>43 54 00 1c 01 45 01 c3 9b 24 03 14 45 2c 01 0f 01 01 30 08 33 b2 dd d9 01 40 00 00 00 00 3c 9a</a:t>
            </a:r>
            <a:endParaRPr lang="en-US" sz="1300" dirty="0"/>
          </a:p>
        </p:txBody>
      </p:sp>
      <p:sp>
        <p:nvSpPr>
          <p:cNvPr id="18" name="frame decode"/>
          <p:cNvSpPr txBox="1"/>
          <p:nvPr/>
        </p:nvSpPr>
        <p:spPr>
          <a:xfrm>
            <a:off x="822960" y="5394960"/>
            <a:ext cx="10545775" cy="411480"/>
          </a:xfrm>
          <a:prstGeom prst="rect">
            <a:avLst/>
          </a:prstGeom>
          <a:noFill/>
          <a:ln/>
        </p:spPr>
        <p:txBody>
          <a:bodyPr wrap="square" lIns="0" tIns="0" rIns="0" bIns="0" rtlCol="0" anchor="t"/>
          <a:lstStyle/>
          <a:p>
            <a:pPr indent="0" marL="0">
              <a:buNone/>
            </a:pPr>
            <a:r>
              <a:rPr lang="en-US" sz="1600" dirty="0">
                <a:solidFill>
                  <a:schemeClr val="bg2"/>
                </a:solidFill>
              </a:rPr>
              <a:t>decodes to   EPC </a:t>
            </a:r>
            <a:pPr indent="0" marL="0">
              <a:buNone/>
            </a:pPr>
            <a:r>
              <a:rPr lang="en-US" sz="1600" b="1" dirty="0">
                <a:solidFill>
                  <a:schemeClr val="accent2"/>
                </a:solidFill>
                <a:latin typeface="Courier New" pitchFamily="34" charset="0"/>
                <a:ea typeface="Courier New" pitchFamily="34" charset="-122"/>
                <a:cs typeface="Courier New" pitchFamily="34" charset="-120"/>
              </a:rPr>
              <a:t>300833B2DDD9014000000000</a:t>
            </a:r>
            <a:pPr indent="0" marL="0">
              <a:buNone/>
            </a:pPr>
            <a:r>
              <a:rPr lang="en-US" sz="1600" dirty="0">
                <a:solidFill>
                  <a:schemeClr val="bg2"/>
                </a:solidFill>
              </a:rPr>
              <a:t>   RSSI 60   antenna 1</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Demo: five steps</a:t>
            </a:r>
            <a:endParaRPr lang="en-US" sz="3400" dirty="0"/>
          </a:p>
        </p:txBody>
      </p:sp>
      <p:sp>
        <p:nvSpPr>
          <p:cNvPr id="3" name="step card 0"/>
          <p:cNvSpPr/>
          <p:nvPr/>
        </p:nvSpPr>
        <p:spPr>
          <a:xfrm>
            <a:off x="548640" y="1737360"/>
            <a:ext cx="2103120" cy="3200400"/>
          </a:xfrm>
          <a:prstGeom prst="roundRect">
            <a:avLst>
              <a:gd name="adj" fmla="val 5217"/>
            </a:avLst>
          </a:prstGeom>
          <a:solidFill>
            <a:srgbClr val="EEF3F6"/>
          </a:solidFill>
          <a:ln w="9525">
            <a:solidFill>
              <a:schemeClr val="bg2"/>
            </a:solidFill>
            <a:prstDash val="solid"/>
          </a:ln>
        </p:spPr>
      </p:sp>
      <p:sp>
        <p:nvSpPr>
          <p:cNvPr id="4" name="step icon 0 circle"/>
          <p:cNvSpPr/>
          <p:nvPr/>
        </p:nvSpPr>
        <p:spPr>
          <a:xfrm>
            <a:off x="1188720" y="1965960"/>
            <a:ext cx="822960" cy="822960"/>
          </a:xfrm>
          <a:prstGeom prst="ellipse">
            <a:avLst/>
          </a:prstGeom>
          <a:solidFill>
            <a:srgbClr val="1F8A9E"/>
          </a:solidFill>
          <a:ln w="12700">
            <a:solidFill>
              <a:srgbClr val="1F8A9E"/>
            </a:solidFill>
            <a:prstDash val="solid"/>
          </a:ln>
        </p:spPr>
      </p:sp>
      <p:pic>
        <p:nvPicPr>
          <p:cNvPr id="5" name="Image 0" descr="Play icon">    </p:cNvPr>
          <p:cNvPicPr>
            <a:picLocks noChangeAspect="1"/>
          </p:cNvPicPr>
          <p:nvPr/>
        </p:nvPicPr>
        <p:blipFill>
          <a:blip r:embed="rId1"/>
          <a:stretch>
            <a:fillRect/>
          </a:stretch>
        </p:blipFill>
        <p:spPr>
          <a:xfrm>
            <a:off x="1394460" y="2171700"/>
            <a:ext cx="411480" cy="411480"/>
          </a:xfrm>
          <a:prstGeom prst="rect">
            <a:avLst/>
          </a:prstGeom>
        </p:spPr>
      </p:pic>
      <p:sp>
        <p:nvSpPr>
          <p:cNvPr id="6" name="step number 0"/>
          <p:cNvSpPr txBox="1"/>
          <p:nvPr/>
        </p:nvSpPr>
        <p:spPr>
          <a:xfrm>
            <a:off x="685800" y="1874520"/>
            <a:ext cx="457200" cy="457200"/>
          </a:xfrm>
          <a:prstGeom prst="rect">
            <a:avLst/>
          </a:prstGeom>
          <a:noFill/>
          <a:ln/>
        </p:spPr>
        <p:txBody>
          <a:bodyPr wrap="square" lIns="0" tIns="0" rIns="0" bIns="0" rtlCol="0" anchor="t"/>
          <a:lstStyle/>
          <a:p>
            <a:pPr indent="0" marL="0">
              <a:buNone/>
            </a:pPr>
            <a:r>
              <a:rPr lang="en-US" sz="2400" b="1" dirty="0">
                <a:solidFill>
                  <a:schemeClr val="accent5"/>
                </a:solidFill>
                <a:latin typeface="Cambria" pitchFamily="34" charset="0"/>
                <a:ea typeface="Cambria" pitchFamily="34" charset="-122"/>
                <a:cs typeface="Cambria" pitchFamily="34" charset="-120"/>
              </a:rPr>
              <a:t>1</a:t>
            </a:r>
            <a:endParaRPr lang="en-US" sz="2400" dirty="0"/>
          </a:p>
        </p:txBody>
      </p:sp>
      <p:sp>
        <p:nvSpPr>
          <p:cNvPr id="7" name="step title 0"/>
          <p:cNvSpPr txBox="1"/>
          <p:nvPr/>
        </p:nvSpPr>
        <p:spPr>
          <a:xfrm>
            <a:off x="548640" y="3017520"/>
            <a:ext cx="2103120" cy="457200"/>
          </a:xfrm>
          <a:prstGeom prst="rect">
            <a:avLst/>
          </a:prstGeom>
          <a:noFill/>
          <a:ln/>
        </p:spPr>
        <p:txBody>
          <a:bodyPr wrap="square" lIns="0" tIns="0" rIns="0" bIns="0" rtlCol="0" anchor="t"/>
          <a:lstStyle/>
          <a:p>
            <a:pPr algn="ctr" indent="0" marL="0">
              <a:buNone/>
            </a:pPr>
            <a:r>
              <a:rPr lang="en-US" sz="2400" b="1" dirty="0">
                <a:solidFill>
                  <a:schemeClr val="tx2"/>
                </a:solidFill>
                <a:latin typeface="Cambria" pitchFamily="34" charset="0"/>
                <a:ea typeface="Cambria" pitchFamily="34" charset="-122"/>
                <a:cs typeface="Cambria" pitchFamily="34" charset="-120"/>
              </a:rPr>
              <a:t>Start</a:t>
            </a:r>
            <a:endParaRPr lang="en-US" sz="2400" dirty="0"/>
          </a:p>
        </p:txBody>
      </p:sp>
      <p:sp>
        <p:nvSpPr>
          <p:cNvPr id="8" name="step text 0"/>
          <p:cNvSpPr txBox="1"/>
          <p:nvPr/>
        </p:nvSpPr>
        <p:spPr>
          <a:xfrm>
            <a:off x="640080" y="3611880"/>
            <a:ext cx="1920240" cy="1097280"/>
          </a:xfrm>
          <a:prstGeom prst="rect">
            <a:avLst/>
          </a:prstGeom>
          <a:noFill/>
          <a:ln/>
        </p:spPr>
        <p:txBody>
          <a:bodyPr wrap="square" lIns="0" tIns="0" rIns="0" bIns="0" rtlCol="0" anchor="t"/>
          <a:lstStyle/>
          <a:p>
            <a:pPr algn="ctr" indent="0" marL="0">
              <a:buNone/>
            </a:pPr>
            <a:r>
              <a:rPr lang="en-US" sz="1500" dirty="0">
                <a:solidFill>
                  <a:schemeClr val="tx1"/>
                </a:solidFill>
              </a:rPr>
              <a:t>python3</a:t>
            </a:r>
            <a:endParaRPr lang="en-US" sz="1500" dirty="0"/>
          </a:p>
          <a:p>
            <a:pPr algn="ctr" indent="0" marL="0">
              <a:buNone/>
            </a:pPr>
            <a:r>
              <a:rPr lang="en-US" sz="1500" dirty="0">
                <a:solidFill>
                  <a:schemeClr val="tx1"/>
                </a:solidFill>
              </a:rPr>
              <a:t>selfmade_reader.py</a:t>
            </a:r>
            <a:endParaRPr lang="en-US" sz="1500" dirty="0"/>
          </a:p>
        </p:txBody>
      </p:sp>
      <p:sp>
        <p:nvSpPr>
          <p:cNvPr id="9" name="step card 1"/>
          <p:cNvSpPr/>
          <p:nvPr/>
        </p:nvSpPr>
        <p:spPr>
          <a:xfrm>
            <a:off x="2788920" y="1737360"/>
            <a:ext cx="2103120" cy="3200400"/>
          </a:xfrm>
          <a:prstGeom prst="roundRect">
            <a:avLst>
              <a:gd name="adj" fmla="val 5217"/>
            </a:avLst>
          </a:prstGeom>
          <a:solidFill>
            <a:srgbClr val="EEF3F6"/>
          </a:solidFill>
          <a:ln w="9525">
            <a:solidFill>
              <a:schemeClr val="bg2"/>
            </a:solidFill>
            <a:prstDash val="solid"/>
          </a:ln>
        </p:spPr>
      </p:sp>
      <p:sp>
        <p:nvSpPr>
          <p:cNvPr id="10" name="step icon 1 circle"/>
          <p:cNvSpPr/>
          <p:nvPr/>
        </p:nvSpPr>
        <p:spPr>
          <a:xfrm>
            <a:off x="3429000" y="1965960"/>
            <a:ext cx="822960" cy="822960"/>
          </a:xfrm>
          <a:prstGeom prst="ellipse">
            <a:avLst/>
          </a:prstGeom>
          <a:solidFill>
            <a:srgbClr val="1F8A9E"/>
          </a:solidFill>
          <a:ln w="12700">
            <a:solidFill>
              <a:srgbClr val="1F8A9E"/>
            </a:solidFill>
            <a:prstDash val="solid"/>
          </a:ln>
        </p:spPr>
      </p:sp>
      <p:pic>
        <p:nvPicPr>
          <p:cNvPr id="11" name="Image 1" descr="Search icon">    </p:cNvPr>
          <p:cNvPicPr>
            <a:picLocks noChangeAspect="1"/>
          </p:cNvPicPr>
          <p:nvPr/>
        </p:nvPicPr>
        <p:blipFill>
          <a:blip r:embed="rId2"/>
          <a:stretch>
            <a:fillRect/>
          </a:stretch>
        </p:blipFill>
        <p:spPr>
          <a:xfrm>
            <a:off x="3634740" y="2171700"/>
            <a:ext cx="411480" cy="411480"/>
          </a:xfrm>
          <a:prstGeom prst="rect">
            <a:avLst/>
          </a:prstGeom>
        </p:spPr>
      </p:pic>
      <p:sp>
        <p:nvSpPr>
          <p:cNvPr id="12" name="step number 1"/>
          <p:cNvSpPr txBox="1"/>
          <p:nvPr/>
        </p:nvSpPr>
        <p:spPr>
          <a:xfrm>
            <a:off x="2926080" y="1874520"/>
            <a:ext cx="457200" cy="457200"/>
          </a:xfrm>
          <a:prstGeom prst="rect">
            <a:avLst/>
          </a:prstGeom>
          <a:noFill/>
          <a:ln/>
        </p:spPr>
        <p:txBody>
          <a:bodyPr wrap="square" lIns="0" tIns="0" rIns="0" bIns="0" rtlCol="0" anchor="t"/>
          <a:lstStyle/>
          <a:p>
            <a:pPr indent="0" marL="0">
              <a:buNone/>
            </a:pPr>
            <a:r>
              <a:rPr lang="en-US" sz="2400" b="1" dirty="0">
                <a:solidFill>
                  <a:schemeClr val="accent5"/>
                </a:solidFill>
                <a:latin typeface="Cambria" pitchFamily="34" charset="0"/>
                <a:ea typeface="Cambria" pitchFamily="34" charset="-122"/>
                <a:cs typeface="Cambria" pitchFamily="34" charset="-120"/>
              </a:rPr>
              <a:t>2</a:t>
            </a:r>
            <a:endParaRPr lang="en-US" sz="2400" dirty="0"/>
          </a:p>
        </p:txBody>
      </p:sp>
      <p:sp>
        <p:nvSpPr>
          <p:cNvPr id="13" name="step title 1"/>
          <p:cNvSpPr txBox="1"/>
          <p:nvPr/>
        </p:nvSpPr>
        <p:spPr>
          <a:xfrm>
            <a:off x="2788920" y="3017520"/>
            <a:ext cx="2103120" cy="457200"/>
          </a:xfrm>
          <a:prstGeom prst="rect">
            <a:avLst/>
          </a:prstGeom>
          <a:noFill/>
          <a:ln/>
        </p:spPr>
        <p:txBody>
          <a:bodyPr wrap="square" lIns="0" tIns="0" rIns="0" bIns="0" rtlCol="0" anchor="t"/>
          <a:lstStyle/>
          <a:p>
            <a:pPr algn="ctr" indent="0" marL="0">
              <a:buNone/>
            </a:pPr>
            <a:r>
              <a:rPr lang="en-US" sz="2400" b="1" dirty="0">
                <a:solidFill>
                  <a:schemeClr val="tx2"/>
                </a:solidFill>
                <a:latin typeface="Cambria" pitchFamily="34" charset="0"/>
                <a:ea typeface="Cambria" pitchFamily="34" charset="-122"/>
                <a:cs typeface="Cambria" pitchFamily="34" charset="-120"/>
              </a:rPr>
              <a:t>Find</a:t>
            </a:r>
            <a:endParaRPr lang="en-US" sz="2400" dirty="0"/>
          </a:p>
        </p:txBody>
      </p:sp>
      <p:sp>
        <p:nvSpPr>
          <p:cNvPr id="14" name="step text 1"/>
          <p:cNvSpPr txBox="1"/>
          <p:nvPr/>
        </p:nvSpPr>
        <p:spPr>
          <a:xfrm>
            <a:off x="2880360" y="3611880"/>
            <a:ext cx="1920240" cy="1097280"/>
          </a:xfrm>
          <a:prstGeom prst="rect">
            <a:avLst/>
          </a:prstGeom>
          <a:noFill/>
          <a:ln/>
        </p:spPr>
        <p:txBody>
          <a:bodyPr wrap="square" lIns="0" tIns="0" rIns="0" bIns="0" rtlCol="0" anchor="t"/>
          <a:lstStyle/>
          <a:p>
            <a:pPr algn="ctr" indent="0" marL="0">
              <a:buNone/>
            </a:pPr>
            <a:r>
              <a:rPr lang="en-US" sz="1500" dirty="0">
                <a:solidFill>
                  <a:schemeClr val="tx1"/>
                </a:solidFill>
              </a:rPr>
              <a:t>Reader setup, then Find readers</a:t>
            </a:r>
            <a:endParaRPr lang="en-US" sz="1500" dirty="0"/>
          </a:p>
        </p:txBody>
      </p:sp>
      <p:sp>
        <p:nvSpPr>
          <p:cNvPr id="15" name="step card 2"/>
          <p:cNvSpPr/>
          <p:nvPr/>
        </p:nvSpPr>
        <p:spPr>
          <a:xfrm>
            <a:off x="5029200" y="1737360"/>
            <a:ext cx="2103120" cy="3200400"/>
          </a:xfrm>
          <a:prstGeom prst="roundRect">
            <a:avLst>
              <a:gd name="adj" fmla="val 5217"/>
            </a:avLst>
          </a:prstGeom>
          <a:solidFill>
            <a:srgbClr val="EEF3F6"/>
          </a:solidFill>
          <a:ln w="9525">
            <a:solidFill>
              <a:schemeClr val="bg2"/>
            </a:solidFill>
            <a:prstDash val="solid"/>
          </a:ln>
        </p:spPr>
      </p:sp>
      <p:sp>
        <p:nvSpPr>
          <p:cNvPr id="16" name="step icon 2 circle"/>
          <p:cNvSpPr/>
          <p:nvPr/>
        </p:nvSpPr>
        <p:spPr>
          <a:xfrm>
            <a:off x="5669280" y="1965960"/>
            <a:ext cx="822960" cy="822960"/>
          </a:xfrm>
          <a:prstGeom prst="ellipse">
            <a:avLst/>
          </a:prstGeom>
          <a:solidFill>
            <a:srgbClr val="FF7A1A"/>
          </a:solidFill>
          <a:ln w="12700">
            <a:solidFill>
              <a:srgbClr val="FF7A1A"/>
            </a:solidFill>
            <a:prstDash val="solid"/>
          </a:ln>
        </p:spPr>
      </p:sp>
      <p:pic>
        <p:nvPicPr>
          <p:cNvPr id="17" name="Image 2" descr="Bolt icon">    </p:cNvPr>
          <p:cNvPicPr>
            <a:picLocks noChangeAspect="1"/>
          </p:cNvPicPr>
          <p:nvPr/>
        </p:nvPicPr>
        <p:blipFill>
          <a:blip r:embed="rId3"/>
          <a:stretch>
            <a:fillRect/>
          </a:stretch>
        </p:blipFill>
        <p:spPr>
          <a:xfrm>
            <a:off x="5875020" y="2171700"/>
            <a:ext cx="411480" cy="411480"/>
          </a:xfrm>
          <a:prstGeom prst="rect">
            <a:avLst/>
          </a:prstGeom>
        </p:spPr>
      </p:pic>
      <p:sp>
        <p:nvSpPr>
          <p:cNvPr id="18" name="step number 2"/>
          <p:cNvSpPr txBox="1"/>
          <p:nvPr/>
        </p:nvSpPr>
        <p:spPr>
          <a:xfrm>
            <a:off x="5166360" y="1874520"/>
            <a:ext cx="457200" cy="457200"/>
          </a:xfrm>
          <a:prstGeom prst="rect">
            <a:avLst/>
          </a:prstGeom>
          <a:noFill/>
          <a:ln/>
        </p:spPr>
        <p:txBody>
          <a:bodyPr wrap="square" lIns="0" tIns="0" rIns="0" bIns="0" rtlCol="0" anchor="t"/>
          <a:lstStyle/>
          <a:p>
            <a:pPr indent="0" marL="0">
              <a:buNone/>
            </a:pPr>
            <a:r>
              <a:rPr lang="en-US" sz="2400" b="1" dirty="0">
                <a:solidFill>
                  <a:schemeClr val="accent5"/>
                </a:solidFill>
                <a:latin typeface="Cambria" pitchFamily="34" charset="0"/>
                <a:ea typeface="Cambria" pitchFamily="34" charset="-122"/>
                <a:cs typeface="Cambria" pitchFamily="34" charset="-120"/>
              </a:rPr>
              <a:t>3</a:t>
            </a:r>
            <a:endParaRPr lang="en-US" sz="2400" dirty="0"/>
          </a:p>
        </p:txBody>
      </p:sp>
      <p:sp>
        <p:nvSpPr>
          <p:cNvPr id="19" name="step title 2"/>
          <p:cNvSpPr txBox="1"/>
          <p:nvPr/>
        </p:nvSpPr>
        <p:spPr>
          <a:xfrm>
            <a:off x="5029200" y="3017520"/>
            <a:ext cx="2103120" cy="457200"/>
          </a:xfrm>
          <a:prstGeom prst="rect">
            <a:avLst/>
          </a:prstGeom>
          <a:noFill/>
          <a:ln/>
        </p:spPr>
        <p:txBody>
          <a:bodyPr wrap="square" lIns="0" tIns="0" rIns="0" bIns="0" rtlCol="0" anchor="t"/>
          <a:lstStyle/>
          <a:p>
            <a:pPr algn="ctr" indent="0" marL="0">
              <a:buNone/>
            </a:pPr>
            <a:r>
              <a:rPr lang="en-US" sz="2400" b="1" dirty="0">
                <a:solidFill>
                  <a:schemeClr val="tx2"/>
                </a:solidFill>
                <a:latin typeface="Cambria" pitchFamily="34" charset="0"/>
                <a:ea typeface="Cambria" pitchFamily="34" charset="-122"/>
                <a:cs typeface="Cambria" pitchFamily="34" charset="-120"/>
              </a:rPr>
              <a:t>Set up</a:t>
            </a:r>
            <a:endParaRPr lang="en-US" sz="2400" dirty="0"/>
          </a:p>
        </p:txBody>
      </p:sp>
      <p:sp>
        <p:nvSpPr>
          <p:cNvPr id="20" name="step text 2"/>
          <p:cNvSpPr txBox="1"/>
          <p:nvPr/>
        </p:nvSpPr>
        <p:spPr>
          <a:xfrm>
            <a:off x="5120640" y="3611880"/>
            <a:ext cx="1920240" cy="1097280"/>
          </a:xfrm>
          <a:prstGeom prst="rect">
            <a:avLst/>
          </a:prstGeom>
          <a:noFill/>
          <a:ln/>
        </p:spPr>
        <p:txBody>
          <a:bodyPr wrap="square" lIns="0" tIns="0" rIns="0" bIns="0" rtlCol="0" anchor="t"/>
          <a:lstStyle/>
          <a:p>
            <a:pPr algn="ctr" indent="0" marL="0">
              <a:buNone/>
            </a:pPr>
            <a:r>
              <a:rPr lang="en-US" sz="1500" dirty="0">
                <a:solidFill>
                  <a:schemeClr val="tx1"/>
                </a:solidFill>
              </a:rPr>
              <a:t>One-click Ethernet setup</a:t>
            </a:r>
            <a:endParaRPr lang="en-US" sz="1500" dirty="0"/>
          </a:p>
        </p:txBody>
      </p:sp>
      <p:sp>
        <p:nvSpPr>
          <p:cNvPr id="21" name="step card 3"/>
          <p:cNvSpPr/>
          <p:nvPr/>
        </p:nvSpPr>
        <p:spPr>
          <a:xfrm>
            <a:off x="7269480" y="1737360"/>
            <a:ext cx="2103120" cy="3200400"/>
          </a:xfrm>
          <a:prstGeom prst="roundRect">
            <a:avLst>
              <a:gd name="adj" fmla="val 5217"/>
            </a:avLst>
          </a:prstGeom>
          <a:solidFill>
            <a:srgbClr val="EEF3F6"/>
          </a:solidFill>
          <a:ln w="9525">
            <a:solidFill>
              <a:schemeClr val="bg2"/>
            </a:solidFill>
            <a:prstDash val="solid"/>
          </a:ln>
        </p:spPr>
      </p:sp>
      <p:sp>
        <p:nvSpPr>
          <p:cNvPr id="22" name="step icon 3 circle"/>
          <p:cNvSpPr/>
          <p:nvPr/>
        </p:nvSpPr>
        <p:spPr>
          <a:xfrm>
            <a:off x="7909560" y="1965960"/>
            <a:ext cx="822960" cy="822960"/>
          </a:xfrm>
          <a:prstGeom prst="ellipse">
            <a:avLst/>
          </a:prstGeom>
          <a:solidFill>
            <a:srgbClr val="2FA37C"/>
          </a:solidFill>
          <a:ln w="12700">
            <a:solidFill>
              <a:srgbClr val="2FA37C"/>
            </a:solidFill>
            <a:prstDash val="solid"/>
          </a:ln>
        </p:spPr>
      </p:sp>
      <p:pic>
        <p:nvPicPr>
          <p:cNvPr id="23" name="Image 3" descr="VolumeUp icon">    </p:cNvPr>
          <p:cNvPicPr>
            <a:picLocks noChangeAspect="1"/>
          </p:cNvPicPr>
          <p:nvPr/>
        </p:nvPicPr>
        <p:blipFill>
          <a:blip r:embed="rId4"/>
          <a:stretch>
            <a:fillRect/>
          </a:stretch>
        </p:blipFill>
        <p:spPr>
          <a:xfrm>
            <a:off x="8115300" y="2171700"/>
            <a:ext cx="411480" cy="411480"/>
          </a:xfrm>
          <a:prstGeom prst="rect">
            <a:avLst/>
          </a:prstGeom>
        </p:spPr>
      </p:pic>
      <p:sp>
        <p:nvSpPr>
          <p:cNvPr id="24" name="step number 3"/>
          <p:cNvSpPr txBox="1"/>
          <p:nvPr/>
        </p:nvSpPr>
        <p:spPr>
          <a:xfrm>
            <a:off x="7406640" y="1874520"/>
            <a:ext cx="457200" cy="457200"/>
          </a:xfrm>
          <a:prstGeom prst="rect">
            <a:avLst/>
          </a:prstGeom>
          <a:noFill/>
          <a:ln/>
        </p:spPr>
        <p:txBody>
          <a:bodyPr wrap="square" lIns="0" tIns="0" rIns="0" bIns="0" rtlCol="0" anchor="t"/>
          <a:lstStyle/>
          <a:p>
            <a:pPr indent="0" marL="0">
              <a:buNone/>
            </a:pPr>
            <a:r>
              <a:rPr lang="en-US" sz="2400" b="1" dirty="0">
                <a:solidFill>
                  <a:schemeClr val="accent5"/>
                </a:solidFill>
                <a:latin typeface="Cambria" pitchFamily="34" charset="0"/>
                <a:ea typeface="Cambria" pitchFamily="34" charset="-122"/>
                <a:cs typeface="Cambria" pitchFamily="34" charset="-120"/>
              </a:rPr>
              <a:t>4</a:t>
            </a:r>
            <a:endParaRPr lang="en-US" sz="2400" dirty="0"/>
          </a:p>
        </p:txBody>
      </p:sp>
      <p:sp>
        <p:nvSpPr>
          <p:cNvPr id="25" name="step title 3"/>
          <p:cNvSpPr txBox="1"/>
          <p:nvPr/>
        </p:nvSpPr>
        <p:spPr>
          <a:xfrm>
            <a:off x="7269480" y="3017520"/>
            <a:ext cx="2103120" cy="457200"/>
          </a:xfrm>
          <a:prstGeom prst="rect">
            <a:avLst/>
          </a:prstGeom>
          <a:noFill/>
          <a:ln/>
        </p:spPr>
        <p:txBody>
          <a:bodyPr wrap="square" lIns="0" tIns="0" rIns="0" bIns="0" rtlCol="0" anchor="t"/>
          <a:lstStyle/>
          <a:p>
            <a:pPr algn="ctr" indent="0" marL="0">
              <a:buNone/>
            </a:pPr>
            <a:r>
              <a:rPr lang="en-US" sz="2400" b="1" dirty="0">
                <a:solidFill>
                  <a:schemeClr val="tx2"/>
                </a:solidFill>
                <a:latin typeface="Cambria" pitchFamily="34" charset="0"/>
                <a:ea typeface="Cambria" pitchFamily="34" charset="-122"/>
                <a:cs typeface="Cambria" pitchFamily="34" charset="-120"/>
              </a:rPr>
              <a:t>Read</a:t>
            </a:r>
            <a:endParaRPr lang="en-US" sz="2400" dirty="0"/>
          </a:p>
        </p:txBody>
      </p:sp>
      <p:sp>
        <p:nvSpPr>
          <p:cNvPr id="26" name="step text 3"/>
          <p:cNvSpPr txBox="1"/>
          <p:nvPr/>
        </p:nvSpPr>
        <p:spPr>
          <a:xfrm>
            <a:off x="7360920" y="3611880"/>
            <a:ext cx="1920240" cy="1097280"/>
          </a:xfrm>
          <a:prstGeom prst="rect">
            <a:avLst/>
          </a:prstGeom>
          <a:noFill/>
          <a:ln/>
        </p:spPr>
        <p:txBody>
          <a:bodyPr wrap="square" lIns="0" tIns="0" rIns="0" bIns="0" rtlCol="0" anchor="t"/>
          <a:lstStyle/>
          <a:p>
            <a:pPr algn="ctr" indent="0" marL="0">
              <a:buNone/>
            </a:pPr>
            <a:r>
              <a:rPr lang="en-US" sz="1500" dirty="0">
                <a:solidFill>
                  <a:schemeClr val="tx1"/>
                </a:solidFill>
              </a:rPr>
              <a:t>Hold a tag: it beeps and appears</a:t>
            </a:r>
            <a:endParaRPr lang="en-US" sz="1500" dirty="0"/>
          </a:p>
        </p:txBody>
      </p:sp>
      <p:sp>
        <p:nvSpPr>
          <p:cNvPr id="27" name="step card 4"/>
          <p:cNvSpPr/>
          <p:nvPr/>
        </p:nvSpPr>
        <p:spPr>
          <a:xfrm>
            <a:off x="9509760" y="1737360"/>
            <a:ext cx="2103120" cy="3200400"/>
          </a:xfrm>
          <a:prstGeom prst="roundRect">
            <a:avLst>
              <a:gd name="adj" fmla="val 5217"/>
            </a:avLst>
          </a:prstGeom>
          <a:solidFill>
            <a:srgbClr val="EEF3F6"/>
          </a:solidFill>
          <a:ln w="9525">
            <a:solidFill>
              <a:schemeClr val="bg2"/>
            </a:solidFill>
            <a:prstDash val="solid"/>
          </a:ln>
        </p:spPr>
      </p:sp>
      <p:sp>
        <p:nvSpPr>
          <p:cNvPr id="28" name="step icon 4 circle"/>
          <p:cNvSpPr/>
          <p:nvPr/>
        </p:nvSpPr>
        <p:spPr>
          <a:xfrm>
            <a:off x="10149840" y="1965960"/>
            <a:ext cx="822960" cy="822960"/>
          </a:xfrm>
          <a:prstGeom prst="ellipse">
            <a:avLst/>
          </a:prstGeom>
          <a:solidFill>
            <a:srgbClr val="0B2B3A"/>
          </a:solidFill>
          <a:ln w="12700">
            <a:solidFill>
              <a:srgbClr val="0B2B3A"/>
            </a:solidFill>
            <a:prstDash val="solid"/>
          </a:ln>
        </p:spPr>
      </p:sp>
      <p:pic>
        <p:nvPicPr>
          <p:cNvPr id="29" name="Image 4" descr="FileCsv icon">    </p:cNvPr>
          <p:cNvPicPr>
            <a:picLocks noChangeAspect="1"/>
          </p:cNvPicPr>
          <p:nvPr/>
        </p:nvPicPr>
        <p:blipFill>
          <a:blip r:embed="rId5"/>
          <a:stretch>
            <a:fillRect/>
          </a:stretch>
        </p:blipFill>
        <p:spPr>
          <a:xfrm>
            <a:off x="10355580" y="2171700"/>
            <a:ext cx="411480" cy="411480"/>
          </a:xfrm>
          <a:prstGeom prst="rect">
            <a:avLst/>
          </a:prstGeom>
        </p:spPr>
      </p:pic>
      <p:sp>
        <p:nvSpPr>
          <p:cNvPr id="30" name="step number 4"/>
          <p:cNvSpPr txBox="1"/>
          <p:nvPr/>
        </p:nvSpPr>
        <p:spPr>
          <a:xfrm>
            <a:off x="9646920" y="1874520"/>
            <a:ext cx="457200" cy="457200"/>
          </a:xfrm>
          <a:prstGeom prst="rect">
            <a:avLst/>
          </a:prstGeom>
          <a:noFill/>
          <a:ln/>
        </p:spPr>
        <p:txBody>
          <a:bodyPr wrap="square" lIns="0" tIns="0" rIns="0" bIns="0" rtlCol="0" anchor="t"/>
          <a:lstStyle/>
          <a:p>
            <a:pPr indent="0" marL="0">
              <a:buNone/>
            </a:pPr>
            <a:r>
              <a:rPr lang="en-US" sz="2400" b="1" dirty="0">
                <a:solidFill>
                  <a:schemeClr val="accent5"/>
                </a:solidFill>
                <a:latin typeface="Cambria" pitchFamily="34" charset="0"/>
                <a:ea typeface="Cambria" pitchFamily="34" charset="-122"/>
                <a:cs typeface="Cambria" pitchFamily="34" charset="-120"/>
              </a:rPr>
              <a:t>5</a:t>
            </a:r>
            <a:endParaRPr lang="en-US" sz="2400" dirty="0"/>
          </a:p>
        </p:txBody>
      </p:sp>
      <p:sp>
        <p:nvSpPr>
          <p:cNvPr id="31" name="step title 4"/>
          <p:cNvSpPr txBox="1"/>
          <p:nvPr/>
        </p:nvSpPr>
        <p:spPr>
          <a:xfrm>
            <a:off x="9509760" y="3017520"/>
            <a:ext cx="2103120" cy="457200"/>
          </a:xfrm>
          <a:prstGeom prst="rect">
            <a:avLst/>
          </a:prstGeom>
          <a:noFill/>
          <a:ln/>
        </p:spPr>
        <p:txBody>
          <a:bodyPr wrap="square" lIns="0" tIns="0" rIns="0" bIns="0" rtlCol="0" anchor="t"/>
          <a:lstStyle/>
          <a:p>
            <a:pPr algn="ctr" indent="0" marL="0">
              <a:buNone/>
            </a:pPr>
            <a:r>
              <a:rPr lang="en-US" sz="2400" b="1" dirty="0">
                <a:solidFill>
                  <a:schemeClr val="tx2"/>
                </a:solidFill>
                <a:latin typeface="Cambria" pitchFamily="34" charset="0"/>
                <a:ea typeface="Cambria" pitchFamily="34" charset="-122"/>
                <a:cs typeface="Cambria" pitchFamily="34" charset="-120"/>
              </a:rPr>
              <a:t>Use</a:t>
            </a:r>
            <a:endParaRPr lang="en-US" sz="2400" dirty="0"/>
          </a:p>
        </p:txBody>
      </p:sp>
      <p:sp>
        <p:nvSpPr>
          <p:cNvPr id="32" name="step text 4"/>
          <p:cNvSpPr txBox="1"/>
          <p:nvPr/>
        </p:nvSpPr>
        <p:spPr>
          <a:xfrm>
            <a:off x="9601200" y="3611880"/>
            <a:ext cx="1920240" cy="1097280"/>
          </a:xfrm>
          <a:prstGeom prst="rect">
            <a:avLst/>
          </a:prstGeom>
          <a:noFill/>
          <a:ln/>
        </p:spPr>
        <p:txBody>
          <a:bodyPr wrap="square" lIns="0" tIns="0" rIns="0" bIns="0" rtlCol="0" anchor="t"/>
          <a:lstStyle/>
          <a:p>
            <a:pPr algn="ctr" indent="0" marL="0">
              <a:buNone/>
            </a:pPr>
            <a:r>
              <a:rPr lang="en-US" sz="1500" dirty="0">
                <a:solidFill>
                  <a:schemeClr val="tx1"/>
                </a:solidFill>
              </a:rPr>
              <a:t>Open the CSV or forward it</a:t>
            </a:r>
            <a:endParaRPr lang="en-US" sz="1500" dirty="0"/>
          </a:p>
        </p:txBody>
      </p:sp>
      <p:sp>
        <p:nvSpPr>
          <p:cNvPr id="33" name="demo footnote"/>
          <p:cNvSpPr txBox="1"/>
          <p:nvPr/>
        </p:nvSpPr>
        <p:spPr>
          <a:xfrm>
            <a:off x="548640" y="5394960"/>
            <a:ext cx="11094415" cy="640080"/>
          </a:xfrm>
          <a:prstGeom prst="rect">
            <a:avLst/>
          </a:prstGeom>
          <a:noFill/>
          <a:ln/>
        </p:spPr>
        <p:txBody>
          <a:bodyPr wrap="square" lIns="0" tIns="0" rIns="0" bIns="0" rtlCol="0" anchor="t"/>
          <a:lstStyle/>
          <a:p>
            <a:pPr indent="0" marL="0">
              <a:buNone/>
            </a:pPr>
            <a:r>
              <a:rPr lang="en-US" sz="1600" dirty="0">
                <a:solidFill>
                  <a:schemeClr val="tx2"/>
                </a:solidFill>
              </a:rPr>
              <a:t>Needs only Python 3.8+ and one file. The computer needs an address in the reader's network, for example 192.168.1.20.</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Screen 1: live dashboard</a:t>
            </a:r>
            <a:endParaRPr lang="en-US" sz="3400" dirty="0"/>
          </a:p>
        </p:txBody>
      </p:sp>
      <p:sp>
        <p:nvSpPr>
          <p:cNvPr id="3" name="screenshot frame"/>
          <p:cNvSpPr/>
          <p:nvPr/>
        </p:nvSpPr>
        <p:spPr>
          <a:xfrm>
            <a:off x="512064" y="1563624"/>
            <a:ext cx="7296912" cy="2417706"/>
          </a:xfrm>
          <a:prstGeom prst="rect">
            <a:avLst/>
          </a:prstGeom>
          <a:solidFill>
            <a:schemeClr val="bg1"/>
          </a:solidFill>
          <a:ln w="15875">
            <a:solidFill>
              <a:schemeClr val="bg2"/>
            </a:solidFill>
            <a:prstDash val="solid"/>
          </a:ln>
          <a:effectLst>
            <a:outerShdw sx="100000" sy="100000" kx="0" ky="0" algn="bl" rotWithShape="0" blurRad="101600" dist="25400" dir="5400000">
              <a:srgbClr val="000000">
                <a:alpha val="18000"/>
              </a:srgbClr>
            </a:outerShdw>
          </a:effectLst>
        </p:spPr>
      </p:sp>
      <p:pic>
        <p:nvPicPr>
          <p:cNvPr id="4" name="Image 0" descr="Dashboard with counters and live tag table">    </p:cNvPr>
          <p:cNvPicPr>
            <a:picLocks noChangeAspect="1"/>
          </p:cNvPicPr>
          <p:nvPr/>
        </p:nvPicPr>
        <p:blipFill>
          <a:blip r:embed="rId1"/>
          <a:stretch>
            <a:fillRect/>
          </a:stretch>
        </p:blipFill>
        <p:spPr>
          <a:xfrm>
            <a:off x="548640" y="1600200"/>
            <a:ext cx="7223760" cy="2344554"/>
          </a:xfrm>
          <a:prstGeom prst="rect">
            <a:avLst/>
          </a:prstGeom>
        </p:spPr>
      </p:pic>
      <p:sp>
        <p:nvSpPr>
          <p:cNvPr id="5" name="caption dash"/>
          <p:cNvSpPr txBox="1"/>
          <p:nvPr/>
        </p:nvSpPr>
        <p:spPr>
          <a:xfrm>
            <a:off x="548640" y="4081914"/>
            <a:ext cx="7223760" cy="274320"/>
          </a:xfrm>
          <a:prstGeom prst="rect">
            <a:avLst/>
          </a:prstGeom>
          <a:noFill/>
          <a:ln/>
        </p:spPr>
        <p:txBody>
          <a:bodyPr wrap="square" lIns="0" tIns="0" rIns="0" bIns="0" rtlCol="0" anchor="t"/>
          <a:lstStyle/>
          <a:p>
            <a:pPr indent="0" marL="0">
              <a:buNone/>
            </a:pPr>
            <a:r>
              <a:rPr lang="en-US" sz="1200" dirty="0">
                <a:solidFill>
                  <a:schemeClr val="accent5"/>
                </a:solidFill>
              </a:rPr>
              <a:t>Recorded reads replayed for the demo</a:t>
            </a:r>
            <a:endParaRPr lang="en-US" sz="1200" dirty="0"/>
          </a:p>
        </p:txBody>
      </p:sp>
      <p:sp>
        <p:nvSpPr>
          <p:cNvPr id="6" name="bar heading"/>
          <p:cNvSpPr txBox="1"/>
          <p:nvPr/>
        </p:nvSpPr>
        <p:spPr>
          <a:xfrm>
            <a:off x="548640" y="4343400"/>
            <a:ext cx="7223760" cy="365760"/>
          </a:xfrm>
          <a:prstGeom prst="rect">
            <a:avLst/>
          </a:prstGeom>
          <a:noFill/>
          <a:ln/>
        </p:spPr>
        <p:txBody>
          <a:bodyPr wrap="square" lIns="0" tIns="0" rIns="0" bIns="0" rtlCol="0" anchor="t"/>
          <a:lstStyle/>
          <a:p>
            <a:pPr indent="0" marL="0">
              <a:buNone/>
            </a:pPr>
            <a:r>
              <a:rPr lang="en-US" sz="1800" b="1" dirty="0">
                <a:solidFill>
                  <a:schemeClr val="tx2"/>
                </a:solidFill>
              </a:rPr>
              <a:t>The top bar tells you the state at a glance</a:t>
            </a:r>
            <a:endParaRPr lang="en-US" sz="1800" dirty="0"/>
          </a:p>
        </p:txBody>
      </p:sp>
      <p:sp>
        <p:nvSpPr>
          <p:cNvPr id="7" name="status pill 0"/>
          <p:cNvSpPr/>
          <p:nvPr/>
        </p:nvSpPr>
        <p:spPr>
          <a:xfrm>
            <a:off x="548640" y="4846320"/>
            <a:ext cx="2331720" cy="457200"/>
          </a:xfrm>
          <a:prstGeom prst="roundRect">
            <a:avLst>
              <a:gd name="adj" fmla="val 50000"/>
            </a:avLst>
          </a:prstGeom>
          <a:solidFill>
            <a:srgbClr val="E5F4EE"/>
          </a:solidFill>
          <a:ln w="12700">
            <a:solidFill>
              <a:srgbClr val="E5F4EE"/>
            </a:solidFill>
            <a:prstDash val="solid"/>
          </a:ln>
        </p:spPr>
      </p:sp>
      <p:sp>
        <p:nvSpPr>
          <p:cNvPr id="8" name="status text 0"/>
          <p:cNvSpPr txBox="1"/>
          <p:nvPr/>
        </p:nvSpPr>
        <p:spPr>
          <a:xfrm>
            <a:off x="548640" y="4846320"/>
            <a:ext cx="2331720" cy="457200"/>
          </a:xfrm>
          <a:prstGeom prst="rect">
            <a:avLst/>
          </a:prstGeom>
          <a:noFill/>
          <a:ln/>
        </p:spPr>
        <p:txBody>
          <a:bodyPr wrap="square" lIns="0" tIns="0" rIns="0" bIns="0" rtlCol="0" anchor="ctr"/>
          <a:lstStyle/>
          <a:p>
            <a:pPr algn="ctr" indent="0" marL="0">
              <a:buNone/>
            </a:pPr>
            <a:r>
              <a:rPr lang="en-US" sz="1400" b="1" dirty="0">
                <a:solidFill>
                  <a:srgbClr val="2FA37C"/>
                </a:solidFill>
              </a:rPr>
              <a:t>reader connected</a:t>
            </a:r>
            <a:endParaRPr lang="en-US" sz="1400" dirty="0"/>
          </a:p>
        </p:txBody>
      </p:sp>
      <p:sp>
        <p:nvSpPr>
          <p:cNvPr id="9" name="status pill 1"/>
          <p:cNvSpPr/>
          <p:nvPr/>
        </p:nvSpPr>
        <p:spPr>
          <a:xfrm>
            <a:off x="3017520" y="4846320"/>
            <a:ext cx="2331720" cy="457200"/>
          </a:xfrm>
          <a:prstGeom prst="roundRect">
            <a:avLst>
              <a:gd name="adj" fmla="val 50000"/>
            </a:avLst>
          </a:prstGeom>
          <a:solidFill>
            <a:srgbClr val="FBF0DC"/>
          </a:solidFill>
          <a:ln w="12700">
            <a:solidFill>
              <a:srgbClr val="FBF0DC"/>
            </a:solidFill>
            <a:prstDash val="solid"/>
          </a:ln>
        </p:spPr>
      </p:sp>
      <p:sp>
        <p:nvSpPr>
          <p:cNvPr id="10" name="status text 1"/>
          <p:cNvSpPr txBox="1"/>
          <p:nvPr/>
        </p:nvSpPr>
        <p:spPr>
          <a:xfrm>
            <a:off x="3017520" y="4846320"/>
            <a:ext cx="2331720" cy="457200"/>
          </a:xfrm>
          <a:prstGeom prst="rect">
            <a:avLst/>
          </a:prstGeom>
          <a:noFill/>
          <a:ln/>
        </p:spPr>
        <p:txBody>
          <a:bodyPr wrap="square" lIns="0" tIns="0" rIns="0" bIns="0" rtlCol="0" anchor="ctr"/>
          <a:lstStyle/>
          <a:p>
            <a:pPr algn="ctr" indent="0" marL="0">
              <a:buNone/>
            </a:pPr>
            <a:r>
              <a:rPr lang="en-US" sz="1400" b="1" dirty="0">
                <a:solidFill>
                  <a:srgbClr val="A15C07"/>
                </a:solidFill>
              </a:rPr>
              <a:t>reachable, not sending</a:t>
            </a:r>
            <a:endParaRPr lang="en-US" sz="1400" dirty="0"/>
          </a:p>
        </p:txBody>
      </p:sp>
      <p:sp>
        <p:nvSpPr>
          <p:cNvPr id="11" name="status pill 2"/>
          <p:cNvSpPr/>
          <p:nvPr/>
        </p:nvSpPr>
        <p:spPr>
          <a:xfrm>
            <a:off x="5486400" y="4846320"/>
            <a:ext cx="2331720" cy="457200"/>
          </a:xfrm>
          <a:prstGeom prst="roundRect">
            <a:avLst>
              <a:gd name="adj" fmla="val 50000"/>
            </a:avLst>
          </a:prstGeom>
          <a:solidFill>
            <a:srgbClr val="FBE9E8"/>
          </a:solidFill>
          <a:ln w="12700">
            <a:solidFill>
              <a:srgbClr val="FBE9E8"/>
            </a:solidFill>
            <a:prstDash val="solid"/>
          </a:ln>
        </p:spPr>
      </p:sp>
      <p:sp>
        <p:nvSpPr>
          <p:cNvPr id="12" name="status text 2"/>
          <p:cNvSpPr txBox="1"/>
          <p:nvPr/>
        </p:nvSpPr>
        <p:spPr>
          <a:xfrm>
            <a:off x="5486400" y="4846320"/>
            <a:ext cx="2331720" cy="457200"/>
          </a:xfrm>
          <a:prstGeom prst="rect">
            <a:avLst/>
          </a:prstGeom>
          <a:noFill/>
          <a:ln/>
        </p:spPr>
        <p:txBody>
          <a:bodyPr wrap="square" lIns="0" tIns="0" rIns="0" bIns="0" rtlCol="0" anchor="ctr"/>
          <a:lstStyle/>
          <a:p>
            <a:pPr algn="ctr" indent="0" marL="0">
              <a:buNone/>
            </a:pPr>
            <a:r>
              <a:rPr lang="en-US" sz="1400" b="1" dirty="0">
                <a:solidFill>
                  <a:srgbClr val="D9534F"/>
                </a:solidFill>
              </a:rPr>
              <a:t>not reachable</a:t>
            </a:r>
            <a:endParaRPr lang="en-US" sz="1400" dirty="0"/>
          </a:p>
        </p:txBody>
      </p:sp>
      <p:sp>
        <p:nvSpPr>
          <p:cNvPr id="13" name="status help"/>
          <p:cNvSpPr txBox="1"/>
          <p:nvPr/>
        </p:nvSpPr>
        <p:spPr>
          <a:xfrm>
            <a:off x="548640" y="5440680"/>
            <a:ext cx="7223760" cy="640080"/>
          </a:xfrm>
          <a:prstGeom prst="rect">
            <a:avLst/>
          </a:prstGeom>
          <a:noFill/>
          <a:ln/>
        </p:spPr>
        <p:txBody>
          <a:bodyPr wrap="square" lIns="0" tIns="0" rIns="0" bIns="0" rtlCol="0" anchor="t"/>
          <a:lstStyle/>
          <a:p>
            <a:pPr indent="0" marL="0">
              <a:buNone/>
            </a:pPr>
            <a:r>
              <a:rPr lang="en-US" sz="1400" dirty="0">
                <a:solidFill>
                  <a:schemeClr val="tx1"/>
                </a:solidFill>
              </a:rPr>
              <a:t>Not reachable: check cable, power and IP. Reachable but not sending: run One-click setup.</a:t>
            </a:r>
            <a:endParaRPr lang="en-US" sz="1400" dirty="0"/>
          </a:p>
        </p:txBody>
      </p:sp>
      <p:sp>
        <p:nvSpPr>
          <p:cNvPr id="14" name="callout 0 circle"/>
          <p:cNvSpPr/>
          <p:nvPr/>
        </p:nvSpPr>
        <p:spPr>
          <a:xfrm>
            <a:off x="8229600" y="1600200"/>
            <a:ext cx="640080" cy="640080"/>
          </a:xfrm>
          <a:prstGeom prst="ellipse">
            <a:avLst/>
          </a:prstGeom>
          <a:solidFill>
            <a:srgbClr val="1F8A9E"/>
          </a:solidFill>
          <a:ln w="12700">
            <a:solidFill>
              <a:srgbClr val="1F8A9E"/>
            </a:solidFill>
            <a:prstDash val="solid"/>
          </a:ln>
        </p:spPr>
      </p:sp>
      <p:pic>
        <p:nvPicPr>
          <p:cNvPr id="15" name="Image 1" descr="TachometerAlt icon">    </p:cNvPr>
          <p:cNvPicPr>
            <a:picLocks noChangeAspect="1"/>
          </p:cNvPicPr>
          <p:nvPr/>
        </p:nvPicPr>
        <p:blipFill>
          <a:blip r:embed="rId2"/>
          <a:stretch>
            <a:fillRect/>
          </a:stretch>
        </p:blipFill>
        <p:spPr>
          <a:xfrm>
            <a:off x="8389620" y="1760220"/>
            <a:ext cx="320040" cy="320040"/>
          </a:xfrm>
          <a:prstGeom prst="rect">
            <a:avLst/>
          </a:prstGeom>
        </p:spPr>
      </p:pic>
      <p:sp>
        <p:nvSpPr>
          <p:cNvPr id="16" name="callout title 0"/>
          <p:cNvSpPr txBox="1"/>
          <p:nvPr/>
        </p:nvSpPr>
        <p:spPr>
          <a:xfrm>
            <a:off x="9052560" y="1581912"/>
            <a:ext cx="2606040" cy="365760"/>
          </a:xfrm>
          <a:prstGeom prst="rect">
            <a:avLst/>
          </a:prstGeom>
          <a:noFill/>
          <a:ln/>
        </p:spPr>
        <p:txBody>
          <a:bodyPr wrap="square" lIns="0" tIns="0" rIns="0" bIns="0" rtlCol="0" anchor="t"/>
          <a:lstStyle/>
          <a:p>
            <a:pPr indent="0" marL="0">
              <a:buNone/>
            </a:pPr>
            <a:r>
              <a:rPr lang="en-US" sz="1800" b="1" dirty="0">
                <a:solidFill>
                  <a:schemeClr val="tx2"/>
                </a:solidFill>
              </a:rPr>
              <a:t>Counters</a:t>
            </a:r>
            <a:endParaRPr lang="en-US" sz="1800" dirty="0"/>
          </a:p>
        </p:txBody>
      </p:sp>
      <p:sp>
        <p:nvSpPr>
          <p:cNvPr id="17" name="callout text 0"/>
          <p:cNvSpPr txBox="1"/>
          <p:nvPr/>
        </p:nvSpPr>
        <p:spPr>
          <a:xfrm>
            <a:off x="9052560" y="1965960"/>
            <a:ext cx="2606040" cy="868680"/>
          </a:xfrm>
          <a:prstGeom prst="rect">
            <a:avLst/>
          </a:prstGeom>
          <a:noFill/>
          <a:ln/>
        </p:spPr>
        <p:txBody>
          <a:bodyPr wrap="square" lIns="0" tIns="0" rIns="0" bIns="0" rtlCol="0" anchor="t"/>
          <a:lstStyle/>
          <a:p>
            <a:pPr indent="0" marL="0">
              <a:buNone/>
            </a:pPr>
            <a:r>
              <a:rPr lang="en-US" sz="1400" dirty="0">
                <a:solidFill>
                  <a:schemeClr val="tx1"/>
                </a:solidFill>
              </a:rPr>
              <a:t>Reads, unique tags, CSV rows, forwarded OK and failed</a:t>
            </a:r>
            <a:endParaRPr lang="en-US" sz="1400" dirty="0"/>
          </a:p>
        </p:txBody>
      </p:sp>
      <p:sp>
        <p:nvSpPr>
          <p:cNvPr id="18" name="callout 1 circle"/>
          <p:cNvSpPr/>
          <p:nvPr/>
        </p:nvSpPr>
        <p:spPr>
          <a:xfrm>
            <a:off x="8229600" y="3017520"/>
            <a:ext cx="640080" cy="640080"/>
          </a:xfrm>
          <a:prstGeom prst="ellipse">
            <a:avLst/>
          </a:prstGeom>
          <a:solidFill>
            <a:srgbClr val="FF7A1A"/>
          </a:solidFill>
          <a:ln w="12700">
            <a:solidFill>
              <a:srgbClr val="FF7A1A"/>
            </a:solidFill>
            <a:prstDash val="solid"/>
          </a:ln>
        </p:spPr>
      </p:sp>
      <p:pic>
        <p:nvPicPr>
          <p:cNvPr id="19" name="Image 2" descr="ListUl icon">    </p:cNvPr>
          <p:cNvPicPr>
            <a:picLocks noChangeAspect="1"/>
          </p:cNvPicPr>
          <p:nvPr/>
        </p:nvPicPr>
        <p:blipFill>
          <a:blip r:embed="rId3"/>
          <a:stretch>
            <a:fillRect/>
          </a:stretch>
        </p:blipFill>
        <p:spPr>
          <a:xfrm>
            <a:off x="8389620" y="3177540"/>
            <a:ext cx="320040" cy="320040"/>
          </a:xfrm>
          <a:prstGeom prst="rect">
            <a:avLst/>
          </a:prstGeom>
        </p:spPr>
      </p:pic>
      <p:sp>
        <p:nvSpPr>
          <p:cNvPr id="20" name="callout title 1"/>
          <p:cNvSpPr txBox="1"/>
          <p:nvPr/>
        </p:nvSpPr>
        <p:spPr>
          <a:xfrm>
            <a:off x="9052560" y="2999232"/>
            <a:ext cx="2606040" cy="365760"/>
          </a:xfrm>
          <a:prstGeom prst="rect">
            <a:avLst/>
          </a:prstGeom>
          <a:noFill/>
          <a:ln/>
        </p:spPr>
        <p:txBody>
          <a:bodyPr wrap="square" lIns="0" tIns="0" rIns="0" bIns="0" rtlCol="0" anchor="t"/>
          <a:lstStyle/>
          <a:p>
            <a:pPr indent="0" marL="0">
              <a:buNone/>
            </a:pPr>
            <a:r>
              <a:rPr lang="en-US" sz="1800" b="1" dirty="0">
                <a:solidFill>
                  <a:schemeClr val="tx2"/>
                </a:solidFill>
              </a:rPr>
              <a:t>Live table</a:t>
            </a:r>
            <a:endParaRPr lang="en-US" sz="1800" dirty="0"/>
          </a:p>
        </p:txBody>
      </p:sp>
      <p:sp>
        <p:nvSpPr>
          <p:cNvPr id="21" name="callout text 1"/>
          <p:cNvSpPr txBox="1"/>
          <p:nvPr/>
        </p:nvSpPr>
        <p:spPr>
          <a:xfrm>
            <a:off x="9052560" y="3383280"/>
            <a:ext cx="2606040" cy="868680"/>
          </a:xfrm>
          <a:prstGeom prst="rect">
            <a:avLst/>
          </a:prstGeom>
          <a:noFill/>
          <a:ln/>
        </p:spPr>
        <p:txBody>
          <a:bodyPr wrap="square" lIns="0" tIns="0" rIns="0" bIns="0" rtlCol="0" anchor="t"/>
          <a:lstStyle/>
          <a:p>
            <a:pPr indent="0" marL="0">
              <a:buNone/>
            </a:pPr>
            <a:r>
              <a:rPr lang="en-US" sz="1400" dirty="0">
                <a:solidFill>
                  <a:schemeClr val="tx1"/>
                </a:solidFill>
              </a:rPr>
              <a:t>EPC, reads, RSSI, antenna and last seen, updating as tags arrive</a:t>
            </a:r>
            <a:endParaRPr lang="en-US" sz="1400" dirty="0"/>
          </a:p>
        </p:txBody>
      </p:sp>
      <p:sp>
        <p:nvSpPr>
          <p:cNvPr id="22" name="callout 2 circle"/>
          <p:cNvSpPr/>
          <p:nvPr/>
        </p:nvSpPr>
        <p:spPr>
          <a:xfrm>
            <a:off x="8229600" y="4434840"/>
            <a:ext cx="640080" cy="640080"/>
          </a:xfrm>
          <a:prstGeom prst="ellipse">
            <a:avLst/>
          </a:prstGeom>
          <a:solidFill>
            <a:srgbClr val="0B2B3A"/>
          </a:solidFill>
          <a:ln w="12700">
            <a:solidFill>
              <a:srgbClr val="0B2B3A"/>
            </a:solidFill>
            <a:prstDash val="solid"/>
          </a:ln>
        </p:spPr>
      </p:sp>
      <p:pic>
        <p:nvPicPr>
          <p:cNvPr id="23" name="Image 3" descr="Download icon">    </p:cNvPr>
          <p:cNvPicPr>
            <a:picLocks noChangeAspect="1"/>
          </p:cNvPicPr>
          <p:nvPr/>
        </p:nvPicPr>
        <p:blipFill>
          <a:blip r:embed="rId4"/>
          <a:stretch>
            <a:fillRect/>
          </a:stretch>
        </p:blipFill>
        <p:spPr>
          <a:xfrm>
            <a:off x="8389620" y="4594860"/>
            <a:ext cx="320040" cy="320040"/>
          </a:xfrm>
          <a:prstGeom prst="rect">
            <a:avLst/>
          </a:prstGeom>
        </p:spPr>
      </p:pic>
      <p:sp>
        <p:nvSpPr>
          <p:cNvPr id="24" name="callout title 2"/>
          <p:cNvSpPr txBox="1"/>
          <p:nvPr/>
        </p:nvSpPr>
        <p:spPr>
          <a:xfrm>
            <a:off x="9052560" y="4416552"/>
            <a:ext cx="2606040" cy="365760"/>
          </a:xfrm>
          <a:prstGeom prst="rect">
            <a:avLst/>
          </a:prstGeom>
          <a:noFill/>
          <a:ln/>
        </p:spPr>
        <p:txBody>
          <a:bodyPr wrap="square" lIns="0" tIns="0" rIns="0" bIns="0" rtlCol="0" anchor="t"/>
          <a:lstStyle/>
          <a:p>
            <a:pPr indent="0" marL="0">
              <a:buNone/>
            </a:pPr>
            <a:r>
              <a:rPr lang="en-US" sz="1800" b="1" dirty="0">
                <a:solidFill>
                  <a:schemeClr val="tx2"/>
                </a:solidFill>
              </a:rPr>
              <a:t>Export</a:t>
            </a:r>
            <a:endParaRPr lang="en-US" sz="1800" dirty="0"/>
          </a:p>
        </p:txBody>
      </p:sp>
      <p:sp>
        <p:nvSpPr>
          <p:cNvPr id="25" name="callout text 2"/>
          <p:cNvSpPr txBox="1"/>
          <p:nvPr/>
        </p:nvSpPr>
        <p:spPr>
          <a:xfrm>
            <a:off x="9052560" y="4800600"/>
            <a:ext cx="2606040" cy="868680"/>
          </a:xfrm>
          <a:prstGeom prst="rect">
            <a:avLst/>
          </a:prstGeom>
          <a:noFill/>
          <a:ln/>
        </p:spPr>
        <p:txBody>
          <a:bodyPr wrap="square" lIns="0" tIns="0" rIns="0" bIns="0" rtlCol="0" anchor="t"/>
          <a:lstStyle/>
          <a:p>
            <a:pPr indent="0" marL="0">
              <a:buNone/>
            </a:pPr>
            <a:r>
              <a:rPr lang="en-US" sz="1400" dirty="0">
                <a:solidFill>
                  <a:schemeClr val="tx1"/>
                </a:solidFill>
              </a:rPr>
              <a:t>Download the CSV or clear the list in one click</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Screen 2: reader setup</a:t>
            </a:r>
            <a:endParaRPr lang="en-US" sz="3400" dirty="0"/>
          </a:p>
        </p:txBody>
      </p:sp>
      <p:sp>
        <p:nvSpPr>
          <p:cNvPr id="3" name="screenshot frame"/>
          <p:cNvSpPr/>
          <p:nvPr/>
        </p:nvSpPr>
        <p:spPr>
          <a:xfrm>
            <a:off x="512064" y="1563624"/>
            <a:ext cx="7296912" cy="3653349"/>
          </a:xfrm>
          <a:prstGeom prst="rect">
            <a:avLst/>
          </a:prstGeom>
          <a:solidFill>
            <a:schemeClr val="bg1"/>
          </a:solidFill>
          <a:ln w="15875">
            <a:solidFill>
              <a:schemeClr val="bg2"/>
            </a:solidFill>
            <a:prstDash val="solid"/>
          </a:ln>
          <a:effectLst>
            <a:outerShdw sx="100000" sy="100000" kx="0" ky="0" algn="bl" rotWithShape="0" blurRad="101600" dist="25400" dir="5400000">
              <a:srgbClr val="000000">
                <a:alpha val="18000"/>
              </a:srgbClr>
            </a:outerShdw>
          </a:effectLst>
        </p:spPr>
      </p:sp>
      <p:pic>
        <p:nvPicPr>
          <p:cNvPr id="4" name="Image 0" descr="Reader setup page with quick setup and reader settings">    </p:cNvPr>
          <p:cNvPicPr>
            <a:picLocks noChangeAspect="1"/>
          </p:cNvPicPr>
          <p:nvPr/>
        </p:nvPicPr>
        <p:blipFill>
          <a:blip r:embed="rId1"/>
          <a:stretch>
            <a:fillRect/>
          </a:stretch>
        </p:blipFill>
        <p:spPr>
          <a:xfrm>
            <a:off x="548640" y="1600200"/>
            <a:ext cx="7223760" cy="3580197"/>
          </a:xfrm>
          <a:prstGeom prst="rect">
            <a:avLst/>
          </a:prstGeom>
        </p:spPr>
      </p:pic>
      <p:sp>
        <p:nvSpPr>
          <p:cNvPr id="5" name="caption setup"/>
          <p:cNvSpPr txBox="1"/>
          <p:nvPr/>
        </p:nvSpPr>
        <p:spPr>
          <a:xfrm>
            <a:off x="548640" y="5317557"/>
            <a:ext cx="7223760" cy="274320"/>
          </a:xfrm>
          <a:prstGeom prst="rect">
            <a:avLst/>
          </a:prstGeom>
          <a:noFill/>
          <a:ln/>
        </p:spPr>
        <p:txBody>
          <a:bodyPr wrap="square" lIns="0" tIns="0" rIns="0" bIns="0" rtlCol="0" anchor="t"/>
          <a:lstStyle/>
          <a:p>
            <a:pPr indent="0" marL="0">
              <a:buNone/>
            </a:pPr>
            <a:r>
              <a:rPr lang="en-US" sz="1200" dirty="0">
                <a:solidFill>
                  <a:schemeClr val="accent5"/>
                </a:solidFill>
              </a:rPr>
              <a:t>Settings read from recorded reader data</a:t>
            </a:r>
            <a:endParaRPr lang="en-US" sz="1200" dirty="0"/>
          </a:p>
        </p:txBody>
      </p:sp>
      <p:sp>
        <p:nvSpPr>
          <p:cNvPr id="6" name="callout 0 circle"/>
          <p:cNvSpPr/>
          <p:nvPr/>
        </p:nvSpPr>
        <p:spPr>
          <a:xfrm>
            <a:off x="8229600" y="1600200"/>
            <a:ext cx="640080" cy="640080"/>
          </a:xfrm>
          <a:prstGeom prst="ellipse">
            <a:avLst/>
          </a:prstGeom>
          <a:solidFill>
            <a:srgbClr val="FF7A1A"/>
          </a:solidFill>
          <a:ln w="12700">
            <a:solidFill>
              <a:srgbClr val="FF7A1A"/>
            </a:solidFill>
            <a:prstDash val="solid"/>
          </a:ln>
        </p:spPr>
      </p:sp>
      <p:pic>
        <p:nvPicPr>
          <p:cNvPr id="7" name="Image 1" descr="Bolt icon">    </p:cNvPr>
          <p:cNvPicPr>
            <a:picLocks noChangeAspect="1"/>
          </p:cNvPicPr>
          <p:nvPr/>
        </p:nvPicPr>
        <p:blipFill>
          <a:blip r:embed="rId2"/>
          <a:stretch>
            <a:fillRect/>
          </a:stretch>
        </p:blipFill>
        <p:spPr>
          <a:xfrm>
            <a:off x="8389620" y="1760220"/>
            <a:ext cx="320040" cy="320040"/>
          </a:xfrm>
          <a:prstGeom prst="rect">
            <a:avLst/>
          </a:prstGeom>
        </p:spPr>
      </p:pic>
      <p:sp>
        <p:nvSpPr>
          <p:cNvPr id="8" name="callout title 0"/>
          <p:cNvSpPr txBox="1"/>
          <p:nvPr/>
        </p:nvSpPr>
        <p:spPr>
          <a:xfrm>
            <a:off x="9052560" y="1581912"/>
            <a:ext cx="2606040" cy="365760"/>
          </a:xfrm>
          <a:prstGeom prst="rect">
            <a:avLst/>
          </a:prstGeom>
          <a:noFill/>
          <a:ln/>
        </p:spPr>
        <p:txBody>
          <a:bodyPr wrap="square" lIns="0" tIns="0" rIns="0" bIns="0" rtlCol="0" anchor="t"/>
          <a:lstStyle/>
          <a:p>
            <a:pPr indent="0" marL="0">
              <a:buNone/>
            </a:pPr>
            <a:r>
              <a:rPr lang="en-US" sz="1800" b="1" dirty="0">
                <a:solidFill>
                  <a:schemeClr val="tx2"/>
                </a:solidFill>
              </a:rPr>
              <a:t>One-click setup</a:t>
            </a:r>
            <a:endParaRPr lang="en-US" sz="1800" dirty="0"/>
          </a:p>
        </p:txBody>
      </p:sp>
      <p:sp>
        <p:nvSpPr>
          <p:cNvPr id="9" name="callout text 0"/>
          <p:cNvSpPr txBox="1"/>
          <p:nvPr/>
        </p:nvSpPr>
        <p:spPr>
          <a:xfrm>
            <a:off x="9052560" y="1965960"/>
            <a:ext cx="2606040" cy="868680"/>
          </a:xfrm>
          <a:prstGeom prst="rect">
            <a:avLst/>
          </a:prstGeom>
          <a:noFill/>
          <a:ln/>
        </p:spPr>
        <p:txBody>
          <a:bodyPr wrap="square" lIns="0" tIns="0" rIns="0" bIns="0" rtlCol="0" anchor="t"/>
          <a:lstStyle/>
          <a:p>
            <a:pPr indent="0" marL="0">
              <a:buNone/>
            </a:pPr>
            <a:r>
              <a:rPr lang="en-US" sz="1400" dirty="0">
                <a:solidFill>
                  <a:schemeClr val="tx1"/>
                </a:solidFill>
              </a:rPr>
              <a:t>Interface to RJ45, remote server to this computer, then restart</a:t>
            </a:r>
            <a:endParaRPr lang="en-US" sz="1400" dirty="0"/>
          </a:p>
        </p:txBody>
      </p:sp>
      <p:sp>
        <p:nvSpPr>
          <p:cNvPr id="10" name="callout 1 circle"/>
          <p:cNvSpPr/>
          <p:nvPr/>
        </p:nvSpPr>
        <p:spPr>
          <a:xfrm>
            <a:off x="8229600" y="3017520"/>
            <a:ext cx="640080" cy="640080"/>
          </a:xfrm>
          <a:prstGeom prst="ellipse">
            <a:avLst/>
          </a:prstGeom>
          <a:solidFill>
            <a:srgbClr val="1F8A9E"/>
          </a:solidFill>
          <a:ln w="12700">
            <a:solidFill>
              <a:srgbClr val="1F8A9E"/>
            </a:solidFill>
            <a:prstDash val="solid"/>
          </a:ln>
        </p:spPr>
      </p:sp>
      <p:pic>
        <p:nvPicPr>
          <p:cNvPr id="11" name="Image 2" descr="Save icon">    </p:cNvPr>
          <p:cNvPicPr>
            <a:picLocks noChangeAspect="1"/>
          </p:cNvPicPr>
          <p:nvPr/>
        </p:nvPicPr>
        <p:blipFill>
          <a:blip r:embed="rId3"/>
          <a:stretch>
            <a:fillRect/>
          </a:stretch>
        </p:blipFill>
        <p:spPr>
          <a:xfrm>
            <a:off x="8389620" y="3177540"/>
            <a:ext cx="320040" cy="320040"/>
          </a:xfrm>
          <a:prstGeom prst="rect">
            <a:avLst/>
          </a:prstGeom>
        </p:spPr>
      </p:pic>
      <p:sp>
        <p:nvSpPr>
          <p:cNvPr id="12" name="callout title 1"/>
          <p:cNvSpPr txBox="1"/>
          <p:nvPr/>
        </p:nvSpPr>
        <p:spPr>
          <a:xfrm>
            <a:off x="9052560" y="2999232"/>
            <a:ext cx="2606040" cy="365760"/>
          </a:xfrm>
          <a:prstGeom prst="rect">
            <a:avLst/>
          </a:prstGeom>
          <a:noFill/>
          <a:ln/>
        </p:spPr>
        <p:txBody>
          <a:bodyPr wrap="square" lIns="0" tIns="0" rIns="0" bIns="0" rtlCol="0" anchor="t"/>
          <a:lstStyle/>
          <a:p>
            <a:pPr indent="0" marL="0">
              <a:buNone/>
            </a:pPr>
            <a:r>
              <a:rPr lang="en-US" sz="1800" b="1" dirty="0">
                <a:solidFill>
                  <a:schemeClr val="tx2"/>
                </a:solidFill>
              </a:rPr>
              <a:t>Backup first</a:t>
            </a:r>
            <a:endParaRPr lang="en-US" sz="1800" dirty="0"/>
          </a:p>
        </p:txBody>
      </p:sp>
      <p:sp>
        <p:nvSpPr>
          <p:cNvPr id="13" name="callout text 1"/>
          <p:cNvSpPr txBox="1"/>
          <p:nvPr/>
        </p:nvSpPr>
        <p:spPr>
          <a:xfrm>
            <a:off x="9052560" y="3383280"/>
            <a:ext cx="2606040" cy="868680"/>
          </a:xfrm>
          <a:prstGeom prst="rect">
            <a:avLst/>
          </a:prstGeom>
          <a:noFill/>
          <a:ln/>
        </p:spPr>
        <p:txBody>
          <a:bodyPr wrap="square" lIns="0" tIns="0" rIns="0" bIns="0" rtlCol="0" anchor="t"/>
          <a:lstStyle/>
          <a:p>
            <a:pPr indent="0" marL="0">
              <a:buNone/>
            </a:pPr>
            <a:r>
              <a:rPr lang="en-US" sz="1400" dirty="0">
                <a:solidFill>
                  <a:schemeClr val="tx1"/>
                </a:solidFill>
              </a:rPr>
              <a:t>Every write saves the old settings to a backup file you can restore</a:t>
            </a:r>
            <a:endParaRPr lang="en-US" sz="1400" dirty="0"/>
          </a:p>
        </p:txBody>
      </p:sp>
      <p:sp>
        <p:nvSpPr>
          <p:cNvPr id="14" name="callout 2 circle"/>
          <p:cNvSpPr/>
          <p:nvPr/>
        </p:nvSpPr>
        <p:spPr>
          <a:xfrm>
            <a:off x="8229600" y="4434840"/>
            <a:ext cx="640080" cy="640080"/>
          </a:xfrm>
          <a:prstGeom prst="ellipse">
            <a:avLst/>
          </a:prstGeom>
          <a:solidFill>
            <a:srgbClr val="0B2B3A"/>
          </a:solidFill>
          <a:ln w="12700">
            <a:solidFill>
              <a:srgbClr val="0B2B3A"/>
            </a:solidFill>
            <a:prstDash val="solid"/>
          </a:ln>
        </p:spPr>
      </p:sp>
      <p:pic>
        <p:nvPicPr>
          <p:cNvPr id="15" name="Image 3" descr="Wifi icon">    </p:cNvPr>
          <p:cNvPicPr>
            <a:picLocks noChangeAspect="1"/>
          </p:cNvPicPr>
          <p:nvPr/>
        </p:nvPicPr>
        <p:blipFill>
          <a:blip r:embed="rId4"/>
          <a:stretch>
            <a:fillRect/>
          </a:stretch>
        </p:blipFill>
        <p:spPr>
          <a:xfrm>
            <a:off x="8389620" y="4594860"/>
            <a:ext cx="320040" cy="320040"/>
          </a:xfrm>
          <a:prstGeom prst="rect">
            <a:avLst/>
          </a:prstGeom>
        </p:spPr>
      </p:pic>
      <p:sp>
        <p:nvSpPr>
          <p:cNvPr id="16" name="callout title 2"/>
          <p:cNvSpPr txBox="1"/>
          <p:nvPr/>
        </p:nvSpPr>
        <p:spPr>
          <a:xfrm>
            <a:off x="9052560" y="4416552"/>
            <a:ext cx="2606040" cy="365760"/>
          </a:xfrm>
          <a:prstGeom prst="rect">
            <a:avLst/>
          </a:prstGeom>
          <a:noFill/>
          <a:ln/>
        </p:spPr>
        <p:txBody>
          <a:bodyPr wrap="square" lIns="0" tIns="0" rIns="0" bIns="0" rtlCol="0" anchor="t"/>
          <a:lstStyle/>
          <a:p>
            <a:pPr indent="0" marL="0">
              <a:buNone/>
            </a:pPr>
            <a:r>
              <a:rPr lang="en-US" sz="1800" b="1" dirty="0">
                <a:solidFill>
                  <a:schemeClr val="tx2"/>
                </a:solidFill>
              </a:rPr>
              <a:t>WiFi and network</a:t>
            </a:r>
            <a:endParaRPr lang="en-US" sz="1800" dirty="0"/>
          </a:p>
        </p:txBody>
      </p:sp>
      <p:sp>
        <p:nvSpPr>
          <p:cNvPr id="17" name="callout text 2"/>
          <p:cNvSpPr txBox="1"/>
          <p:nvPr/>
        </p:nvSpPr>
        <p:spPr>
          <a:xfrm>
            <a:off x="9052560" y="4800600"/>
            <a:ext cx="2606040" cy="868680"/>
          </a:xfrm>
          <a:prstGeom prst="rect">
            <a:avLst/>
          </a:prstGeom>
          <a:noFill/>
          <a:ln/>
        </p:spPr>
        <p:txBody>
          <a:bodyPr wrap="square" lIns="0" tIns="0" rIns="0" bIns="0" rtlCol="0" anchor="t"/>
          <a:lstStyle/>
          <a:p>
            <a:pPr indent="0" marL="0">
              <a:buNone/>
            </a:pPr>
            <a:r>
              <a:rPr lang="en-US" sz="1400" dirty="0">
                <a:solidFill>
                  <a:schemeClr val="tx1"/>
                </a:solidFill>
              </a:rPr>
              <a:t>Reader IP, remote server, WiFi name and password in one place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Screen 3: data and forwarding</a:t>
            </a:r>
            <a:endParaRPr lang="en-US" sz="3400" dirty="0"/>
          </a:p>
        </p:txBody>
      </p:sp>
      <p:sp>
        <p:nvSpPr>
          <p:cNvPr id="3" name="screenshot frame"/>
          <p:cNvSpPr/>
          <p:nvPr/>
        </p:nvSpPr>
        <p:spPr>
          <a:xfrm>
            <a:off x="512064" y="1563624"/>
            <a:ext cx="6074941" cy="4416552"/>
          </a:xfrm>
          <a:prstGeom prst="rect">
            <a:avLst/>
          </a:prstGeom>
          <a:solidFill>
            <a:schemeClr val="bg1"/>
          </a:solidFill>
          <a:ln w="15875">
            <a:solidFill>
              <a:schemeClr val="bg2"/>
            </a:solidFill>
            <a:prstDash val="solid"/>
          </a:ln>
          <a:effectLst>
            <a:outerShdw sx="100000" sy="100000" kx="0" ky="0" algn="bl" rotWithShape="0" blurRad="101600" dist="25400" dir="5400000">
              <a:srgbClr val="000000">
                <a:alpha val="18000"/>
              </a:srgbClr>
            </a:outerShdw>
          </a:effectLst>
        </p:spPr>
      </p:sp>
      <p:pic>
        <p:nvPicPr>
          <p:cNvPr id="4" name="Image 0" descr="Data and forwarding page">    </p:cNvPr>
          <p:cNvPicPr>
            <a:picLocks noChangeAspect="1"/>
          </p:cNvPicPr>
          <p:nvPr/>
        </p:nvPicPr>
        <p:blipFill>
          <a:blip r:embed="rId1"/>
          <a:stretch>
            <a:fillRect/>
          </a:stretch>
        </p:blipFill>
        <p:spPr>
          <a:xfrm>
            <a:off x="548640" y="1600200"/>
            <a:ext cx="6001789" cy="4343400"/>
          </a:xfrm>
          <a:prstGeom prst="rect">
            <a:avLst/>
          </a:prstGeom>
        </p:spPr>
      </p:pic>
      <p:sp>
        <p:nvSpPr>
          <p:cNvPr id="5" name="callout 0 circle"/>
          <p:cNvSpPr/>
          <p:nvPr/>
        </p:nvSpPr>
        <p:spPr>
          <a:xfrm>
            <a:off x="7086600" y="1600200"/>
            <a:ext cx="640080" cy="640080"/>
          </a:xfrm>
          <a:prstGeom prst="ellipse">
            <a:avLst/>
          </a:prstGeom>
          <a:solidFill>
            <a:srgbClr val="1F8A9E"/>
          </a:solidFill>
          <a:ln w="12700">
            <a:solidFill>
              <a:srgbClr val="1F8A9E"/>
            </a:solidFill>
            <a:prstDash val="solid"/>
          </a:ln>
        </p:spPr>
      </p:sp>
      <p:pic>
        <p:nvPicPr>
          <p:cNvPr id="6" name="Image 1" descr="FileCsv icon">    </p:cNvPr>
          <p:cNvPicPr>
            <a:picLocks noChangeAspect="1"/>
          </p:cNvPicPr>
          <p:nvPr/>
        </p:nvPicPr>
        <p:blipFill>
          <a:blip r:embed="rId2"/>
          <a:stretch>
            <a:fillRect/>
          </a:stretch>
        </p:blipFill>
        <p:spPr>
          <a:xfrm>
            <a:off x="7246620" y="1760220"/>
            <a:ext cx="320040" cy="320040"/>
          </a:xfrm>
          <a:prstGeom prst="rect">
            <a:avLst/>
          </a:prstGeom>
        </p:spPr>
      </p:pic>
      <p:sp>
        <p:nvSpPr>
          <p:cNvPr id="7" name="callout title 0"/>
          <p:cNvSpPr txBox="1"/>
          <p:nvPr/>
        </p:nvSpPr>
        <p:spPr>
          <a:xfrm>
            <a:off x="7909560" y="1581912"/>
            <a:ext cx="3749040" cy="365760"/>
          </a:xfrm>
          <a:prstGeom prst="rect">
            <a:avLst/>
          </a:prstGeom>
          <a:noFill/>
          <a:ln/>
        </p:spPr>
        <p:txBody>
          <a:bodyPr wrap="square" lIns="0" tIns="0" rIns="0" bIns="0" rtlCol="0" anchor="t"/>
          <a:lstStyle/>
          <a:p>
            <a:pPr indent="0" marL="0">
              <a:buNone/>
            </a:pPr>
            <a:r>
              <a:rPr lang="en-US" sz="1800" b="1" dirty="0">
                <a:solidFill>
                  <a:schemeClr val="tx2"/>
                </a:solidFill>
              </a:rPr>
              <a:t>Storage</a:t>
            </a:r>
            <a:endParaRPr lang="en-US" sz="1800" dirty="0"/>
          </a:p>
        </p:txBody>
      </p:sp>
      <p:sp>
        <p:nvSpPr>
          <p:cNvPr id="8" name="callout text 0"/>
          <p:cNvSpPr txBox="1"/>
          <p:nvPr/>
        </p:nvSpPr>
        <p:spPr>
          <a:xfrm>
            <a:off x="7909560" y="1965960"/>
            <a:ext cx="3749040" cy="868680"/>
          </a:xfrm>
          <a:prstGeom prst="rect">
            <a:avLst/>
          </a:prstGeom>
          <a:noFill/>
          <a:ln/>
        </p:spPr>
        <p:txBody>
          <a:bodyPr wrap="square" lIns="0" tIns="0" rIns="0" bIns="0" rtlCol="0" anchor="t"/>
          <a:lstStyle/>
          <a:p>
            <a:pPr indent="0" marL="0">
              <a:buNone/>
            </a:pPr>
            <a:r>
              <a:rPr lang="en-US" sz="1400" dirty="0">
                <a:solidFill>
                  <a:schemeClr val="tx1"/>
                </a:solidFill>
              </a:rPr>
              <a:t>CSV path, one row per tag per 1, 5 or 60 seconds, optional daily files</a:t>
            </a:r>
            <a:endParaRPr lang="en-US" sz="1400" dirty="0"/>
          </a:p>
        </p:txBody>
      </p:sp>
      <p:sp>
        <p:nvSpPr>
          <p:cNvPr id="9" name="callout 1 circle"/>
          <p:cNvSpPr/>
          <p:nvPr/>
        </p:nvSpPr>
        <p:spPr>
          <a:xfrm>
            <a:off x="7086600" y="3017520"/>
            <a:ext cx="640080" cy="640080"/>
          </a:xfrm>
          <a:prstGeom prst="ellipse">
            <a:avLst/>
          </a:prstGeom>
          <a:solidFill>
            <a:srgbClr val="FF7A1A"/>
          </a:solidFill>
          <a:ln w="12700">
            <a:solidFill>
              <a:srgbClr val="FF7A1A"/>
            </a:solidFill>
            <a:prstDash val="solid"/>
          </a:ln>
        </p:spPr>
      </p:sp>
      <p:pic>
        <p:nvPicPr>
          <p:cNvPr id="10" name="Image 2" descr="CloudUploadAlt icon">    </p:cNvPr>
          <p:cNvPicPr>
            <a:picLocks noChangeAspect="1"/>
          </p:cNvPicPr>
          <p:nvPr/>
        </p:nvPicPr>
        <p:blipFill>
          <a:blip r:embed="rId3"/>
          <a:stretch>
            <a:fillRect/>
          </a:stretch>
        </p:blipFill>
        <p:spPr>
          <a:xfrm>
            <a:off x="7246620" y="3177540"/>
            <a:ext cx="320040" cy="320040"/>
          </a:xfrm>
          <a:prstGeom prst="rect">
            <a:avLst/>
          </a:prstGeom>
        </p:spPr>
      </p:pic>
      <p:sp>
        <p:nvSpPr>
          <p:cNvPr id="11" name="callout title 1"/>
          <p:cNvSpPr txBox="1"/>
          <p:nvPr/>
        </p:nvSpPr>
        <p:spPr>
          <a:xfrm>
            <a:off x="7909560" y="2999232"/>
            <a:ext cx="3749040" cy="365760"/>
          </a:xfrm>
          <a:prstGeom prst="rect">
            <a:avLst/>
          </a:prstGeom>
          <a:noFill/>
          <a:ln/>
        </p:spPr>
        <p:txBody>
          <a:bodyPr wrap="square" lIns="0" tIns="0" rIns="0" bIns="0" rtlCol="0" anchor="t"/>
          <a:lstStyle/>
          <a:p>
            <a:pPr indent="0" marL="0">
              <a:buNone/>
            </a:pPr>
            <a:r>
              <a:rPr lang="en-US" sz="1800" b="1" dirty="0">
                <a:solidFill>
                  <a:schemeClr val="tx2"/>
                </a:solidFill>
              </a:rPr>
              <a:t>Forwarding</a:t>
            </a:r>
            <a:endParaRPr lang="en-US" sz="1800" dirty="0"/>
          </a:p>
        </p:txBody>
      </p:sp>
      <p:sp>
        <p:nvSpPr>
          <p:cNvPr id="12" name="callout text 1"/>
          <p:cNvSpPr txBox="1"/>
          <p:nvPr/>
        </p:nvSpPr>
        <p:spPr>
          <a:xfrm>
            <a:off x="7909560" y="3383280"/>
            <a:ext cx="3749040" cy="868680"/>
          </a:xfrm>
          <a:prstGeom prst="rect">
            <a:avLst/>
          </a:prstGeom>
          <a:noFill/>
          <a:ln/>
        </p:spPr>
        <p:txBody>
          <a:bodyPr wrap="square" lIns="0" tIns="0" rIns="0" bIns="0" rtlCol="0" anchor="t"/>
          <a:lstStyle/>
          <a:p>
            <a:pPr indent="0" marL="0">
              <a:buNone/>
            </a:pPr>
            <a:r>
              <a:rPr lang="en-US" sz="1400" dirty="0">
                <a:solidFill>
                  <a:schemeClr val="tx1"/>
                </a:solidFill>
              </a:rPr>
              <a:t>HTTP webhook, MQTT broker or TCP server, each with a Test button</a:t>
            </a:r>
            <a:endParaRPr lang="en-US" sz="1400" dirty="0"/>
          </a:p>
        </p:txBody>
      </p:sp>
      <p:sp>
        <p:nvSpPr>
          <p:cNvPr id="13" name="callout 2 circle"/>
          <p:cNvSpPr/>
          <p:nvPr/>
        </p:nvSpPr>
        <p:spPr>
          <a:xfrm>
            <a:off x="7086600" y="4434840"/>
            <a:ext cx="640080" cy="640080"/>
          </a:xfrm>
          <a:prstGeom prst="ellipse">
            <a:avLst/>
          </a:prstGeom>
          <a:solidFill>
            <a:srgbClr val="0B2B3A"/>
          </a:solidFill>
          <a:ln w="12700">
            <a:solidFill>
              <a:srgbClr val="0B2B3A"/>
            </a:solidFill>
            <a:prstDash val="solid"/>
          </a:ln>
        </p:spPr>
      </p:sp>
      <p:pic>
        <p:nvPicPr>
          <p:cNvPr id="14" name="Image 3" descr="Lock icon">    </p:cNvPr>
          <p:cNvPicPr>
            <a:picLocks noChangeAspect="1"/>
          </p:cNvPicPr>
          <p:nvPr/>
        </p:nvPicPr>
        <p:blipFill>
          <a:blip r:embed="rId4"/>
          <a:stretch>
            <a:fillRect/>
          </a:stretch>
        </p:blipFill>
        <p:spPr>
          <a:xfrm>
            <a:off x="7246620" y="4594860"/>
            <a:ext cx="320040" cy="320040"/>
          </a:xfrm>
          <a:prstGeom prst="rect">
            <a:avLst/>
          </a:prstGeom>
        </p:spPr>
      </p:pic>
      <p:sp>
        <p:nvSpPr>
          <p:cNvPr id="15" name="callout title 2"/>
          <p:cNvSpPr txBox="1"/>
          <p:nvPr/>
        </p:nvSpPr>
        <p:spPr>
          <a:xfrm>
            <a:off x="7909560" y="4416552"/>
            <a:ext cx="3749040" cy="365760"/>
          </a:xfrm>
          <a:prstGeom prst="rect">
            <a:avLst/>
          </a:prstGeom>
          <a:noFill/>
          <a:ln/>
        </p:spPr>
        <p:txBody>
          <a:bodyPr wrap="square" lIns="0" tIns="0" rIns="0" bIns="0" rtlCol="0" anchor="t"/>
          <a:lstStyle/>
          <a:p>
            <a:pPr indent="0" marL="0">
              <a:buNone/>
            </a:pPr>
            <a:r>
              <a:rPr lang="en-US" sz="1800" b="1" dirty="0">
                <a:solidFill>
                  <a:schemeClr val="tx2"/>
                </a:solidFill>
              </a:rPr>
              <a:t>Credentials</a:t>
            </a:r>
            <a:endParaRPr lang="en-US" sz="1800" dirty="0"/>
          </a:p>
        </p:txBody>
      </p:sp>
      <p:sp>
        <p:nvSpPr>
          <p:cNvPr id="16" name="callout text 2"/>
          <p:cNvSpPr txBox="1"/>
          <p:nvPr/>
        </p:nvSpPr>
        <p:spPr>
          <a:xfrm>
            <a:off x="7909560" y="4800600"/>
            <a:ext cx="3749040" cy="868680"/>
          </a:xfrm>
          <a:prstGeom prst="rect">
            <a:avLst/>
          </a:prstGeom>
          <a:noFill/>
          <a:ln/>
        </p:spPr>
        <p:txBody>
          <a:bodyPr wrap="square" lIns="0" tIns="0" rIns="0" bIns="0" rtlCol="0" anchor="t"/>
          <a:lstStyle/>
          <a:p>
            <a:pPr indent="0" marL="0">
              <a:buNone/>
            </a:pPr>
            <a:r>
              <a:rPr lang="en-US" sz="1400" dirty="0">
                <a:solidFill>
                  <a:schemeClr val="tx1"/>
                </a:solidFill>
              </a:rPr>
              <a:t>Kept in a local settings file that is never committed to GitHub</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Where the data goes</a:t>
            </a:r>
            <a:endParaRPr lang="en-US" sz="3400" dirty="0"/>
          </a:p>
        </p:txBody>
      </p:sp>
      <p:sp>
        <p:nvSpPr>
          <p:cNvPr id="3" name="csv heading"/>
          <p:cNvSpPr txBox="1"/>
          <p:nvPr/>
        </p:nvSpPr>
        <p:spPr>
          <a:xfrm>
            <a:off x="548640" y="1508760"/>
            <a:ext cx="6675120" cy="320040"/>
          </a:xfrm>
          <a:prstGeom prst="rect">
            <a:avLst/>
          </a:prstGeom>
          <a:noFill/>
          <a:ln/>
        </p:spPr>
        <p:txBody>
          <a:bodyPr wrap="square" lIns="0" tIns="0" rIns="0" bIns="0" rtlCol="0" anchor="t"/>
          <a:lstStyle/>
          <a:p>
            <a:pPr indent="0" marL="0">
              <a:buNone/>
            </a:pPr>
            <a:r>
              <a:rPr lang="en-US" sz="1600" b="1" dirty="0">
                <a:solidFill>
                  <a:schemeClr val="tx2"/>
                </a:solidFill>
              </a:rPr>
              <a:t>Real rows from our reader's CSV</a:t>
            </a:r>
            <a:endParaRPr lang="en-US" sz="1600" dirty="0"/>
          </a:p>
        </p:txBody>
      </p:sp>
      <p:graphicFrame>
        <p:nvGraphicFramePr>
          <p:cNvPr id="11" name="CSV sample table"/>
          <p:cNvGraphicFramePr>
            <a:graphicFrameLocks noGrp="1"/>
          </p:cNvGraphicFramePr>
          <p:nvPr>
            <p:extLst>
              <p:ext uri="{D42A27DB-BD31-4B8C-83A1-F6EECF244321}">
                <p14:modId xmlns:p14="http://schemas.microsoft.com/office/powerpoint/2010/main" val="1579011935"/>
              </p:ext>
            </p:extLst>
          </p:nvPr>
        </p:nvGraphicFramePr>
        <p:xfrm>
          <a:off x="548640" y="1920240"/>
          <a:ext cx="6675120" cy="914400"/>
        </p:xfrm>
        <a:graphic>
          <a:graphicData uri="http://schemas.openxmlformats.org/drawingml/2006/table">
            <a:tbl>
              <a:tblPr/>
              <a:tblGrid>
                <a:gridCol w="2423160"/>
                <a:gridCol w="2834640"/>
                <a:gridCol w="685800"/>
                <a:gridCol w="731520"/>
              </a:tblGrid>
              <a:tr h="420624">
                <a:tc>
                  <a:txBody>
                    <a:bodyPr/>
                    <a:lstStyle/>
                    <a:p>
                      <a:pPr algn="l" indent="0" marL="0">
                        <a:buNone/>
                      </a:pPr>
                      <a:r>
                        <a:rPr lang="en-US" sz="1400" b="1" dirty="0">
                          <a:solidFill>
                            <a:srgbClr val="FFFFFF"/>
                          </a:solidFill>
                        </a:rPr>
                        <a:t>timestamp</a:t>
                      </a:r>
                      <a:endParaRPr lang="en-US" sz="1400" dirty="0"/>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0B2B3A"/>
                    </a:solidFill>
                  </a:tcPr>
                </a:tc>
                <a:tc>
                  <a:txBody>
                    <a:bodyPr/>
                    <a:lstStyle/>
                    <a:p>
                      <a:pPr algn="l" indent="0" marL="0">
                        <a:buNone/>
                      </a:pPr>
                      <a:r>
                        <a:rPr lang="en-US" sz="1400" b="1" dirty="0">
                          <a:solidFill>
                            <a:srgbClr val="FFFFFF"/>
                          </a:solidFill>
                        </a:rPr>
                        <a:t>epc</a:t>
                      </a:r>
                      <a:endParaRPr lang="en-US" sz="1400" dirty="0"/>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0B2B3A"/>
                    </a:solidFill>
                  </a:tcPr>
                </a:tc>
                <a:tc>
                  <a:txBody>
                    <a:bodyPr/>
                    <a:lstStyle/>
                    <a:p>
                      <a:pPr algn="l" indent="0" marL="0">
                        <a:buNone/>
                      </a:pPr>
                      <a:r>
                        <a:rPr lang="en-US" sz="1400" b="1" dirty="0">
                          <a:solidFill>
                            <a:srgbClr val="FFFFFF"/>
                          </a:solidFill>
                        </a:rPr>
                        <a:t>rssi</a:t>
                      </a:r>
                      <a:endParaRPr lang="en-US" sz="1400" dirty="0"/>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0B2B3A"/>
                    </a:solidFill>
                  </a:tcPr>
                </a:tc>
                <a:tc>
                  <a:txBody>
                    <a:bodyPr/>
                    <a:lstStyle/>
                    <a:p>
                      <a:pPr algn="l" indent="0" marL="0">
                        <a:buNone/>
                      </a:pPr>
                      <a:r>
                        <a:rPr lang="en-US" sz="1400" b="1" dirty="0">
                          <a:solidFill>
                            <a:srgbClr val="FFFFFF"/>
                          </a:solidFill>
                        </a:rPr>
                        <a:t>ant</a:t>
                      </a:r>
                      <a:endParaRPr lang="en-US" sz="1400" dirty="0"/>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0B2B3A"/>
                    </a:solidFill>
                  </a:tcPr>
                </a:tc>
              </a:tr>
              <a:tr h="420624">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2026-10-01T16:14:01.654</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c>
                  <a:txBody>
                    <a:bodyPr/>
                    <a:lstStyle/>
                    <a:p>
                      <a:pPr indent="0" marL="0">
                        <a:buNone/>
                      </a:pPr>
                      <a:r>
                        <a:rPr lang="en-US" sz="1300" dirty="0">
                          <a:solidFill>
                            <a:srgbClr val="10242E"/>
                          </a:solidFill>
                          <a:latin typeface="Courier New" pitchFamily="34" charset="0"/>
                          <a:ea typeface="Courier New" pitchFamily="34" charset="-122"/>
                          <a:cs typeface="Courier New" pitchFamily="34" charset="-120"/>
                        </a:rPr>
                        <a:t>300833B2DDD9014000000000</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r>
              <a:tr h="420624">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2026-10-01T16:14:01.734</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300" dirty="0">
                          <a:solidFill>
                            <a:srgbClr val="10242E"/>
                          </a:solidFill>
                          <a:latin typeface="Courier New" pitchFamily="34" charset="0"/>
                          <a:ea typeface="Courier New" pitchFamily="34" charset="-122"/>
                          <a:cs typeface="Courier New" pitchFamily="34" charset="-120"/>
                        </a:rPr>
                        <a:t>300833B2DDD9014000000000</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2026-10-01T16:14:02.205</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c>
                  <a:txBody>
                    <a:bodyPr/>
                    <a:lstStyle/>
                    <a:p>
                      <a:pPr indent="0" marL="0">
                        <a:buNone/>
                      </a:pPr>
                      <a:r>
                        <a:rPr lang="en-US" sz="1300" dirty="0">
                          <a:solidFill>
                            <a:srgbClr val="10242E"/>
                          </a:solidFill>
                          <a:latin typeface="Courier New" pitchFamily="34" charset="0"/>
                          <a:ea typeface="Courier New" pitchFamily="34" charset="-122"/>
                          <a:cs typeface="Courier New" pitchFamily="34" charset="-120"/>
                        </a:rPr>
                        <a:t>300833B2DDD9014000000000</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r>
              <a:tr h="420624">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2026-10-01T16:14:02.223</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300" dirty="0">
                          <a:solidFill>
                            <a:srgbClr val="10242E"/>
                          </a:solidFill>
                          <a:latin typeface="Courier New" pitchFamily="34" charset="0"/>
                          <a:ea typeface="Courier New" pitchFamily="34" charset="-122"/>
                          <a:cs typeface="Courier New" pitchFamily="34" charset="-120"/>
                        </a:rPr>
                        <a:t>300833B2DDD9014000000010</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FFFFFF"/>
                    </a:solidFill>
                  </a:tcPr>
                </a:tc>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2026-10-01T16:14:03.674</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c>
                  <a:txBody>
                    <a:bodyPr/>
                    <a:lstStyle/>
                    <a:p>
                      <a:pPr indent="0" marL="0">
                        <a:buNone/>
                      </a:pPr>
                      <a:r>
                        <a:rPr lang="en-US" sz="1300" dirty="0">
                          <a:solidFill>
                            <a:srgbClr val="10242E"/>
                          </a:solidFill>
                          <a:latin typeface="Courier New" pitchFamily="34" charset="0"/>
                          <a:ea typeface="Courier New" pitchFamily="34" charset="-122"/>
                          <a:cs typeface="Courier New" pitchFamily="34" charset="-120"/>
                        </a:rPr>
                        <a:t>300833B2DDD9014000000010</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c>
                  <a:txBody>
                    <a:bodyPr/>
                    <a:lstStyle/>
                    <a:p>
                      <a:pPr indent="0" marL="0">
                        <a:buNone/>
                      </a:pPr>
                      <a:r>
                        <a:rPr lang="en-US" sz="1300" dirty="0">
                          <a:solidFill>
                            <a:srgbClr val="1024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5DDE3"/>
                      </a:solidFill>
                      <a:prstDash val="solid"/>
                      <a:round/>
                      <a:headEnd type="none" w="med" len="med"/>
                      <a:tailEnd type="none" w="med" len="med"/>
                    </a:lnL>
                    <a:lnR w="6350" cap="flat" cmpd="sng" algn="ctr">
                      <a:solidFill>
                        <a:srgbClr val="D5DDE3"/>
                      </a:solidFill>
                      <a:prstDash val="solid"/>
                      <a:round/>
                      <a:headEnd type="none" w="med" len="med"/>
                      <a:tailEnd type="none" w="med" len="med"/>
                    </a:lnR>
                    <a:lnT w="6350" cap="flat" cmpd="sng" algn="ctr">
                      <a:solidFill>
                        <a:srgbClr val="D5DDE3"/>
                      </a:solidFill>
                      <a:prstDash val="solid"/>
                      <a:round/>
                      <a:headEnd type="none" w="med" len="med"/>
                      <a:tailEnd type="none" w="med" len="med"/>
                    </a:lnT>
                    <a:lnB w="6350" cap="flat" cmpd="sng" algn="ctr">
                      <a:solidFill>
                        <a:srgbClr val="D5DDE3"/>
                      </a:solidFill>
                      <a:prstDash val="solid"/>
                      <a:round/>
                      <a:headEnd type="none" w="med" len="med"/>
                      <a:tailEnd type="none" w="med" len="med"/>
                    </a:lnB>
                    <a:solidFill>
                      <a:srgbClr val="EEF3F6"/>
                    </a:solidFill>
                  </a:tcPr>
                </a:tc>
              </a:tr>
            </a:tbl>
          </a:graphicData>
        </a:graphic>
      </p:graphicFrame>
      <p:sp>
        <p:nvSpPr>
          <p:cNvPr id="5" name="csv note"/>
          <p:cNvSpPr txBox="1"/>
          <p:nvPr/>
        </p:nvSpPr>
        <p:spPr>
          <a:xfrm>
            <a:off x="548640" y="4892040"/>
            <a:ext cx="6675120" cy="548640"/>
          </a:xfrm>
          <a:prstGeom prst="rect">
            <a:avLst/>
          </a:prstGeom>
          <a:noFill/>
          <a:ln/>
        </p:spPr>
        <p:txBody>
          <a:bodyPr wrap="square" lIns="0" tIns="0" rIns="0" bIns="0" rtlCol="0" anchor="t"/>
          <a:lstStyle/>
          <a:p>
            <a:pPr indent="0" marL="0">
              <a:buNone/>
            </a:pPr>
            <a:r>
              <a:rPr lang="en-US" sz="1400" dirty="0">
                <a:solidFill>
                  <a:schemeClr val="accent5"/>
                </a:solidFill>
              </a:rPr>
              <a:t>One row per tag per second by default; every read if you prefer.</a:t>
            </a:r>
            <a:endParaRPr lang="en-US" sz="1400" dirty="0"/>
          </a:p>
        </p:txBody>
      </p:sp>
      <p:sp>
        <p:nvSpPr>
          <p:cNvPr id="6" name="flow card 0"/>
          <p:cNvSpPr/>
          <p:nvPr/>
        </p:nvSpPr>
        <p:spPr>
          <a:xfrm>
            <a:off x="7680960" y="1554480"/>
            <a:ext cx="3959352" cy="914400"/>
          </a:xfrm>
          <a:prstGeom prst="roundRect">
            <a:avLst>
              <a:gd name="adj" fmla="val 12000"/>
            </a:avLst>
          </a:prstGeom>
          <a:solidFill>
            <a:srgbClr val="EEF3F6"/>
          </a:solidFill>
          <a:ln w="9525">
            <a:solidFill>
              <a:schemeClr val="bg2"/>
            </a:solidFill>
            <a:prstDash val="solid"/>
          </a:ln>
        </p:spPr>
      </p:sp>
      <p:sp>
        <p:nvSpPr>
          <p:cNvPr id="7" name="flow icon 0 circle"/>
          <p:cNvSpPr/>
          <p:nvPr/>
        </p:nvSpPr>
        <p:spPr>
          <a:xfrm>
            <a:off x="7863840" y="1719072"/>
            <a:ext cx="585216" cy="585216"/>
          </a:xfrm>
          <a:prstGeom prst="ellipse">
            <a:avLst/>
          </a:prstGeom>
          <a:solidFill>
            <a:srgbClr val="FF7A1A"/>
          </a:solidFill>
          <a:ln w="12700">
            <a:solidFill>
              <a:srgbClr val="FF7A1A"/>
            </a:solidFill>
            <a:prstDash val="solid"/>
          </a:ln>
        </p:spPr>
      </p:sp>
      <p:pic>
        <p:nvPicPr>
          <p:cNvPr id="8" name="Image 0" descr="Tag icon">    </p:cNvPr>
          <p:cNvPicPr>
            <a:picLocks noChangeAspect="1"/>
          </p:cNvPicPr>
          <p:nvPr/>
        </p:nvPicPr>
        <p:blipFill>
          <a:blip r:embed="rId1"/>
          <a:stretch>
            <a:fillRect/>
          </a:stretch>
        </p:blipFill>
        <p:spPr>
          <a:xfrm>
            <a:off x="8010144" y="1865376"/>
            <a:ext cx="292608" cy="292608"/>
          </a:xfrm>
          <a:prstGeom prst="rect">
            <a:avLst/>
          </a:prstGeom>
        </p:spPr>
      </p:pic>
      <p:sp>
        <p:nvSpPr>
          <p:cNvPr id="9" name="flow title 0"/>
          <p:cNvSpPr txBox="1"/>
          <p:nvPr/>
        </p:nvSpPr>
        <p:spPr>
          <a:xfrm>
            <a:off x="8641080" y="1664208"/>
            <a:ext cx="2862072" cy="347472"/>
          </a:xfrm>
          <a:prstGeom prst="rect">
            <a:avLst/>
          </a:prstGeom>
          <a:noFill/>
          <a:ln/>
        </p:spPr>
        <p:txBody>
          <a:bodyPr wrap="square" lIns="0" tIns="0" rIns="0" bIns="0" rtlCol="0" anchor="t"/>
          <a:lstStyle/>
          <a:p>
            <a:pPr indent="0" marL="0">
              <a:buNone/>
            </a:pPr>
            <a:r>
              <a:rPr lang="en-US" sz="1600" b="1" dirty="0">
                <a:solidFill>
                  <a:schemeClr val="tx2"/>
                </a:solidFill>
              </a:rPr>
              <a:t>Tag read</a:t>
            </a:r>
            <a:endParaRPr lang="en-US" sz="1600" dirty="0"/>
          </a:p>
        </p:txBody>
      </p:sp>
      <p:sp>
        <p:nvSpPr>
          <p:cNvPr id="10" name="flow text 0"/>
          <p:cNvSpPr txBox="1"/>
          <p:nvPr/>
        </p:nvSpPr>
        <p:spPr>
          <a:xfrm>
            <a:off x="8641080" y="2029968"/>
            <a:ext cx="2862072" cy="365760"/>
          </a:xfrm>
          <a:prstGeom prst="rect">
            <a:avLst/>
          </a:prstGeom>
          <a:noFill/>
          <a:ln/>
        </p:spPr>
        <p:txBody>
          <a:bodyPr wrap="square" lIns="0" tIns="0" rIns="0" bIns="0" rtlCol="0" anchor="t"/>
          <a:lstStyle/>
          <a:p>
            <a:pPr indent="0" marL="0">
              <a:buNone/>
            </a:pPr>
            <a:r>
              <a:rPr lang="en-US" sz="1400" dirty="0">
                <a:solidFill>
                  <a:schemeClr val="tx1"/>
                </a:solidFill>
              </a:rPr>
              <a:t>Saved to CSV first, always</a:t>
            </a:r>
            <a:endParaRPr lang="en-US" sz="1400" dirty="0"/>
          </a:p>
        </p:txBody>
      </p:sp>
      <p:sp>
        <p:nvSpPr>
          <p:cNvPr id="11" name="Shape 7"/>
          <p:cNvSpPr/>
          <p:nvPr/>
        </p:nvSpPr>
        <p:spPr>
          <a:xfrm>
            <a:off x="9660636" y="2468880"/>
            <a:ext cx="0" cy="256032"/>
          </a:xfrm>
          <a:prstGeom prst="line">
            <a:avLst/>
          </a:prstGeom>
          <a:noFill/>
          <a:ln w="25400">
            <a:solidFill>
              <a:srgbClr val="6C7A89"/>
            </a:solidFill>
            <a:prstDash val="solid"/>
            <a:tailEnd type="triangle"/>
          </a:ln>
        </p:spPr>
      </p:sp>
      <p:sp>
        <p:nvSpPr>
          <p:cNvPr id="12" name="flow card 1"/>
          <p:cNvSpPr/>
          <p:nvPr/>
        </p:nvSpPr>
        <p:spPr>
          <a:xfrm>
            <a:off x="7680960" y="2724912"/>
            <a:ext cx="3959352" cy="914400"/>
          </a:xfrm>
          <a:prstGeom prst="roundRect">
            <a:avLst>
              <a:gd name="adj" fmla="val 12000"/>
            </a:avLst>
          </a:prstGeom>
          <a:solidFill>
            <a:srgbClr val="EEF3F6"/>
          </a:solidFill>
          <a:ln w="9525">
            <a:solidFill>
              <a:schemeClr val="bg2"/>
            </a:solidFill>
            <a:prstDash val="solid"/>
          </a:ln>
        </p:spPr>
      </p:sp>
      <p:sp>
        <p:nvSpPr>
          <p:cNvPr id="13" name="flow icon 1 circle"/>
          <p:cNvSpPr/>
          <p:nvPr/>
        </p:nvSpPr>
        <p:spPr>
          <a:xfrm>
            <a:off x="7863840" y="2889504"/>
            <a:ext cx="585216" cy="585216"/>
          </a:xfrm>
          <a:prstGeom prst="ellipse">
            <a:avLst/>
          </a:prstGeom>
          <a:solidFill>
            <a:srgbClr val="1F8A9E"/>
          </a:solidFill>
          <a:ln w="12700">
            <a:solidFill>
              <a:srgbClr val="1F8A9E"/>
            </a:solidFill>
            <a:prstDash val="solid"/>
          </a:ln>
        </p:spPr>
      </p:sp>
      <p:pic>
        <p:nvPicPr>
          <p:cNvPr id="14" name="Image 1" descr="CloudUploadAlt icon">    </p:cNvPr>
          <p:cNvPicPr>
            <a:picLocks noChangeAspect="1"/>
          </p:cNvPicPr>
          <p:nvPr/>
        </p:nvPicPr>
        <p:blipFill>
          <a:blip r:embed="rId2"/>
          <a:stretch>
            <a:fillRect/>
          </a:stretch>
        </p:blipFill>
        <p:spPr>
          <a:xfrm>
            <a:off x="8010144" y="3035808"/>
            <a:ext cx="292608" cy="292608"/>
          </a:xfrm>
          <a:prstGeom prst="rect">
            <a:avLst/>
          </a:prstGeom>
        </p:spPr>
      </p:pic>
      <p:sp>
        <p:nvSpPr>
          <p:cNvPr id="15" name="flow title 1"/>
          <p:cNvSpPr txBox="1"/>
          <p:nvPr/>
        </p:nvSpPr>
        <p:spPr>
          <a:xfrm>
            <a:off x="8641080" y="2834640"/>
            <a:ext cx="2862072" cy="347472"/>
          </a:xfrm>
          <a:prstGeom prst="rect">
            <a:avLst/>
          </a:prstGeom>
          <a:noFill/>
          <a:ln/>
        </p:spPr>
        <p:txBody>
          <a:bodyPr wrap="square" lIns="0" tIns="0" rIns="0" bIns="0" rtlCol="0" anchor="t"/>
          <a:lstStyle/>
          <a:p>
            <a:pPr indent="0" marL="0">
              <a:buNone/>
            </a:pPr>
            <a:r>
              <a:rPr lang="en-US" sz="1600" b="1" dirty="0">
                <a:solidFill>
                  <a:schemeClr val="tx2"/>
                </a:solidFill>
              </a:rPr>
              <a:t>Send</a:t>
            </a:r>
            <a:endParaRPr lang="en-US" sz="1600" dirty="0"/>
          </a:p>
        </p:txBody>
      </p:sp>
      <p:sp>
        <p:nvSpPr>
          <p:cNvPr id="16" name="flow text 1"/>
          <p:cNvSpPr txBox="1"/>
          <p:nvPr/>
        </p:nvSpPr>
        <p:spPr>
          <a:xfrm>
            <a:off x="8641080" y="3200400"/>
            <a:ext cx="2862072" cy="365760"/>
          </a:xfrm>
          <a:prstGeom prst="rect">
            <a:avLst/>
          </a:prstGeom>
          <a:noFill/>
          <a:ln/>
        </p:spPr>
        <p:txBody>
          <a:bodyPr wrap="square" lIns="0" tIns="0" rIns="0" bIns="0" rtlCol="0" anchor="t"/>
          <a:lstStyle/>
          <a:p>
            <a:pPr indent="0" marL="0">
              <a:buNone/>
            </a:pPr>
            <a:r>
              <a:rPr lang="en-US" sz="1400" dirty="0">
                <a:solidFill>
                  <a:schemeClr val="tx1"/>
                </a:solidFill>
              </a:rPr>
              <a:t>HTTP, MQTT or TCP</a:t>
            </a:r>
            <a:endParaRPr lang="en-US" sz="1400" dirty="0"/>
          </a:p>
        </p:txBody>
      </p:sp>
      <p:sp>
        <p:nvSpPr>
          <p:cNvPr id="17" name="Shape 12"/>
          <p:cNvSpPr/>
          <p:nvPr/>
        </p:nvSpPr>
        <p:spPr>
          <a:xfrm>
            <a:off x="9660636" y="3639312"/>
            <a:ext cx="0" cy="256032"/>
          </a:xfrm>
          <a:prstGeom prst="line">
            <a:avLst/>
          </a:prstGeom>
          <a:noFill/>
          <a:ln w="25400">
            <a:solidFill>
              <a:srgbClr val="6C7A89"/>
            </a:solidFill>
            <a:prstDash val="solid"/>
            <a:tailEnd type="triangle"/>
          </a:ln>
        </p:spPr>
      </p:sp>
      <p:sp>
        <p:nvSpPr>
          <p:cNvPr id="18" name="flow card 2"/>
          <p:cNvSpPr/>
          <p:nvPr/>
        </p:nvSpPr>
        <p:spPr>
          <a:xfrm>
            <a:off x="7680960" y="3895344"/>
            <a:ext cx="3959352" cy="914400"/>
          </a:xfrm>
          <a:prstGeom prst="roundRect">
            <a:avLst>
              <a:gd name="adj" fmla="val 12000"/>
            </a:avLst>
          </a:prstGeom>
          <a:solidFill>
            <a:srgbClr val="EEF3F6"/>
          </a:solidFill>
          <a:ln w="9525">
            <a:solidFill>
              <a:schemeClr val="bg2"/>
            </a:solidFill>
            <a:prstDash val="solid"/>
          </a:ln>
        </p:spPr>
      </p:sp>
      <p:sp>
        <p:nvSpPr>
          <p:cNvPr id="19" name="flow icon 2 circle"/>
          <p:cNvSpPr/>
          <p:nvPr/>
        </p:nvSpPr>
        <p:spPr>
          <a:xfrm>
            <a:off x="7863840" y="4059936"/>
            <a:ext cx="585216" cy="585216"/>
          </a:xfrm>
          <a:prstGeom prst="ellipse">
            <a:avLst/>
          </a:prstGeom>
          <a:solidFill>
            <a:srgbClr val="F2B134"/>
          </a:solidFill>
          <a:ln w="12700">
            <a:solidFill>
              <a:srgbClr val="F2B134"/>
            </a:solidFill>
            <a:prstDash val="solid"/>
          </a:ln>
        </p:spPr>
      </p:sp>
      <p:pic>
        <p:nvPicPr>
          <p:cNvPr id="20" name="Image 2" descr="Hdd icon">    </p:cNvPr>
          <p:cNvPicPr>
            <a:picLocks noChangeAspect="1"/>
          </p:cNvPicPr>
          <p:nvPr/>
        </p:nvPicPr>
        <p:blipFill>
          <a:blip r:embed="rId3"/>
          <a:stretch>
            <a:fillRect/>
          </a:stretch>
        </p:blipFill>
        <p:spPr>
          <a:xfrm>
            <a:off x="8010144" y="4206240"/>
            <a:ext cx="292608" cy="292608"/>
          </a:xfrm>
          <a:prstGeom prst="rect">
            <a:avLst/>
          </a:prstGeom>
        </p:spPr>
      </p:pic>
      <p:sp>
        <p:nvSpPr>
          <p:cNvPr id="21" name="flow title 2"/>
          <p:cNvSpPr txBox="1"/>
          <p:nvPr/>
        </p:nvSpPr>
        <p:spPr>
          <a:xfrm>
            <a:off x="8641080" y="4005072"/>
            <a:ext cx="2862072" cy="347472"/>
          </a:xfrm>
          <a:prstGeom prst="rect">
            <a:avLst/>
          </a:prstGeom>
          <a:noFill/>
          <a:ln/>
        </p:spPr>
        <p:txBody>
          <a:bodyPr wrap="square" lIns="0" tIns="0" rIns="0" bIns="0" rtlCol="0" anchor="t"/>
          <a:lstStyle/>
          <a:p>
            <a:pPr indent="0" marL="0">
              <a:buNone/>
            </a:pPr>
            <a:r>
              <a:rPr lang="en-US" sz="1600" b="1" dirty="0">
                <a:solidFill>
                  <a:schemeClr val="tx2"/>
                </a:solidFill>
              </a:rPr>
              <a:t>Link down?</a:t>
            </a:r>
            <a:endParaRPr lang="en-US" sz="1600" dirty="0"/>
          </a:p>
        </p:txBody>
      </p:sp>
      <p:sp>
        <p:nvSpPr>
          <p:cNvPr id="22" name="flow text 2"/>
          <p:cNvSpPr txBox="1"/>
          <p:nvPr/>
        </p:nvSpPr>
        <p:spPr>
          <a:xfrm>
            <a:off x="8641080" y="4370832"/>
            <a:ext cx="2862072" cy="365760"/>
          </a:xfrm>
          <a:prstGeom prst="rect">
            <a:avLst/>
          </a:prstGeom>
          <a:noFill/>
          <a:ln/>
        </p:spPr>
        <p:txBody>
          <a:bodyPr wrap="square" lIns="0" tIns="0" rIns="0" bIns="0" rtlCol="0" anchor="t"/>
          <a:lstStyle/>
          <a:p>
            <a:pPr indent="0" marL="0">
              <a:buNone/>
            </a:pPr>
            <a:r>
              <a:rPr lang="en-US" sz="1400" dirty="0">
                <a:solidFill>
                  <a:schemeClr val="tx1"/>
                </a:solidFill>
              </a:rPr>
              <a:t>Saved to a spool file on disk</a:t>
            </a:r>
            <a:endParaRPr lang="en-US" sz="1400" dirty="0"/>
          </a:p>
        </p:txBody>
      </p:sp>
      <p:sp>
        <p:nvSpPr>
          <p:cNvPr id="23" name="Shape 17"/>
          <p:cNvSpPr/>
          <p:nvPr/>
        </p:nvSpPr>
        <p:spPr>
          <a:xfrm>
            <a:off x="9660636" y="4809744"/>
            <a:ext cx="0" cy="256032"/>
          </a:xfrm>
          <a:prstGeom prst="line">
            <a:avLst/>
          </a:prstGeom>
          <a:noFill/>
          <a:ln w="25400">
            <a:solidFill>
              <a:srgbClr val="6C7A89"/>
            </a:solidFill>
            <a:prstDash val="solid"/>
            <a:tailEnd type="triangle"/>
          </a:ln>
        </p:spPr>
      </p:sp>
      <p:sp>
        <p:nvSpPr>
          <p:cNvPr id="24" name="flow card 3"/>
          <p:cNvSpPr/>
          <p:nvPr/>
        </p:nvSpPr>
        <p:spPr>
          <a:xfrm>
            <a:off x="7680960" y="5065776"/>
            <a:ext cx="3959352" cy="914400"/>
          </a:xfrm>
          <a:prstGeom prst="roundRect">
            <a:avLst>
              <a:gd name="adj" fmla="val 12000"/>
            </a:avLst>
          </a:prstGeom>
          <a:solidFill>
            <a:srgbClr val="EEF3F6"/>
          </a:solidFill>
          <a:ln w="9525">
            <a:solidFill>
              <a:schemeClr val="bg2"/>
            </a:solidFill>
            <a:prstDash val="solid"/>
          </a:ln>
        </p:spPr>
      </p:sp>
      <p:sp>
        <p:nvSpPr>
          <p:cNvPr id="25" name="flow icon 3 circle"/>
          <p:cNvSpPr/>
          <p:nvPr/>
        </p:nvSpPr>
        <p:spPr>
          <a:xfrm>
            <a:off x="7863840" y="5230368"/>
            <a:ext cx="585216" cy="585216"/>
          </a:xfrm>
          <a:prstGeom prst="ellipse">
            <a:avLst/>
          </a:prstGeom>
          <a:solidFill>
            <a:srgbClr val="2FA37C"/>
          </a:solidFill>
          <a:ln w="12700">
            <a:solidFill>
              <a:srgbClr val="2FA37C"/>
            </a:solidFill>
            <a:prstDash val="solid"/>
          </a:ln>
        </p:spPr>
      </p:sp>
      <p:pic>
        <p:nvPicPr>
          <p:cNvPr id="26" name="Image 3" descr="SyncAlt icon">    </p:cNvPr>
          <p:cNvPicPr>
            <a:picLocks noChangeAspect="1"/>
          </p:cNvPicPr>
          <p:nvPr/>
        </p:nvPicPr>
        <p:blipFill>
          <a:blip r:embed="rId4"/>
          <a:stretch>
            <a:fillRect/>
          </a:stretch>
        </p:blipFill>
        <p:spPr>
          <a:xfrm>
            <a:off x="8010144" y="5376672"/>
            <a:ext cx="292608" cy="292608"/>
          </a:xfrm>
          <a:prstGeom prst="rect">
            <a:avLst/>
          </a:prstGeom>
        </p:spPr>
      </p:pic>
      <p:sp>
        <p:nvSpPr>
          <p:cNvPr id="27" name="flow title 3"/>
          <p:cNvSpPr txBox="1"/>
          <p:nvPr/>
        </p:nvSpPr>
        <p:spPr>
          <a:xfrm>
            <a:off x="8641080" y="5175504"/>
            <a:ext cx="2862072" cy="347472"/>
          </a:xfrm>
          <a:prstGeom prst="rect">
            <a:avLst/>
          </a:prstGeom>
          <a:noFill/>
          <a:ln/>
        </p:spPr>
        <p:txBody>
          <a:bodyPr wrap="square" lIns="0" tIns="0" rIns="0" bIns="0" rtlCol="0" anchor="t"/>
          <a:lstStyle/>
          <a:p>
            <a:pPr indent="0" marL="0">
              <a:buNone/>
            </a:pPr>
            <a:r>
              <a:rPr lang="en-US" sz="1600" b="1" dirty="0">
                <a:solidFill>
                  <a:schemeClr val="tx2"/>
                </a:solidFill>
              </a:rPr>
              <a:t>Auto-resend</a:t>
            </a:r>
            <a:endParaRPr lang="en-US" sz="1600" dirty="0"/>
          </a:p>
        </p:txBody>
      </p:sp>
      <p:sp>
        <p:nvSpPr>
          <p:cNvPr id="28" name="flow text 3"/>
          <p:cNvSpPr txBox="1"/>
          <p:nvPr/>
        </p:nvSpPr>
        <p:spPr>
          <a:xfrm>
            <a:off x="8641080" y="5541264"/>
            <a:ext cx="2862072" cy="365760"/>
          </a:xfrm>
          <a:prstGeom prst="rect">
            <a:avLst/>
          </a:prstGeom>
          <a:noFill/>
          <a:ln/>
        </p:spPr>
        <p:txBody>
          <a:bodyPr wrap="square" lIns="0" tIns="0" rIns="0" bIns="0" rtlCol="0" anchor="t"/>
          <a:lstStyle/>
          <a:p>
            <a:pPr indent="0" marL="0">
              <a:buNone/>
            </a:pPr>
            <a:r>
              <a:rPr lang="en-US" sz="1400" dirty="0">
                <a:solidFill>
                  <a:schemeClr val="tx1"/>
                </a:solidFill>
              </a:rPr>
              <a:t>Every 30 seconds, oldest first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Run it on any computer</a:t>
            </a:r>
            <a:endParaRPr lang="en-US" sz="3400" dirty="0"/>
          </a:p>
        </p:txBody>
      </p:sp>
      <p:sp>
        <p:nvSpPr>
          <p:cNvPr id="3" name="os card 0"/>
          <p:cNvSpPr/>
          <p:nvPr/>
        </p:nvSpPr>
        <p:spPr>
          <a:xfrm>
            <a:off x="548640" y="1554480"/>
            <a:ext cx="3520440" cy="3246120"/>
          </a:xfrm>
          <a:prstGeom prst="roundRect">
            <a:avLst>
              <a:gd name="adj" fmla="val 3380"/>
            </a:avLst>
          </a:prstGeom>
          <a:solidFill>
            <a:srgbClr val="EEF3F6"/>
          </a:solidFill>
          <a:ln w="9525">
            <a:solidFill>
              <a:schemeClr val="bg2"/>
            </a:solidFill>
            <a:prstDash val="solid"/>
          </a:ln>
        </p:spPr>
      </p:sp>
      <p:sp>
        <p:nvSpPr>
          <p:cNvPr id="4" name="os icon 0 circle"/>
          <p:cNvSpPr/>
          <p:nvPr/>
        </p:nvSpPr>
        <p:spPr>
          <a:xfrm>
            <a:off x="822960" y="1783080"/>
            <a:ext cx="777240" cy="777240"/>
          </a:xfrm>
          <a:prstGeom prst="ellipse">
            <a:avLst/>
          </a:prstGeom>
          <a:solidFill>
            <a:srgbClr val="0B2B3A"/>
          </a:solidFill>
          <a:ln w="12700">
            <a:solidFill>
              <a:srgbClr val="0B2B3A"/>
            </a:solidFill>
            <a:prstDash val="solid"/>
          </a:ln>
        </p:spPr>
      </p:sp>
      <p:pic>
        <p:nvPicPr>
          <p:cNvPr id="5" name="Image 0" descr="Windows icon">    </p:cNvPr>
          <p:cNvPicPr>
            <a:picLocks noChangeAspect="1"/>
          </p:cNvPicPr>
          <p:nvPr/>
        </p:nvPicPr>
        <p:blipFill>
          <a:blip r:embed="rId1"/>
          <a:stretch>
            <a:fillRect/>
          </a:stretch>
        </p:blipFill>
        <p:spPr>
          <a:xfrm>
            <a:off x="1017270" y="1977390"/>
            <a:ext cx="388620" cy="388620"/>
          </a:xfrm>
          <a:prstGeom prst="rect">
            <a:avLst/>
          </a:prstGeom>
        </p:spPr>
      </p:pic>
      <p:sp>
        <p:nvSpPr>
          <p:cNvPr id="6" name="os title 0"/>
          <p:cNvSpPr txBox="1"/>
          <p:nvPr/>
        </p:nvSpPr>
        <p:spPr>
          <a:xfrm>
            <a:off x="1783080" y="1874520"/>
            <a:ext cx="2148840" cy="54864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Windows</a:t>
            </a:r>
            <a:endParaRPr lang="en-US" sz="2400" dirty="0"/>
          </a:p>
        </p:txBody>
      </p:sp>
      <p:sp>
        <p:nvSpPr>
          <p:cNvPr id="7" name="start label 0"/>
          <p:cNvSpPr txBox="1"/>
          <p:nvPr/>
        </p:nvSpPr>
        <p:spPr>
          <a:xfrm>
            <a:off x="822960" y="2788920"/>
            <a:ext cx="2971800" cy="274320"/>
          </a:xfrm>
          <a:prstGeom prst="rect">
            <a:avLst/>
          </a:prstGeom>
          <a:noFill/>
          <a:ln/>
        </p:spPr>
        <p:txBody>
          <a:bodyPr wrap="square" lIns="0" tIns="0" rIns="0" bIns="0" rtlCol="0" anchor="t"/>
          <a:lstStyle/>
          <a:p>
            <a:pPr indent="0" marL="0">
              <a:buNone/>
            </a:pPr>
            <a:r>
              <a:rPr lang="en-US" sz="1400" dirty="0">
                <a:solidFill>
                  <a:schemeClr val="accent5"/>
                </a:solidFill>
              </a:rPr>
              <a:t>Start</a:t>
            </a:r>
            <a:endParaRPr lang="en-US" sz="1400" dirty="0"/>
          </a:p>
        </p:txBody>
      </p:sp>
      <p:sp>
        <p:nvSpPr>
          <p:cNvPr id="8" name="start cmd 0"/>
          <p:cNvSpPr txBox="1"/>
          <p:nvPr/>
        </p:nvSpPr>
        <p:spPr>
          <a:xfrm>
            <a:off x="822960" y="3063240"/>
            <a:ext cx="2971800" cy="36576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START_WINDOWS.bat</a:t>
            </a:r>
            <a:endParaRPr lang="en-US" sz="1600" dirty="0"/>
          </a:p>
        </p:txBody>
      </p:sp>
      <p:sp>
        <p:nvSpPr>
          <p:cNvPr id="9" name="auto label 0"/>
          <p:cNvSpPr txBox="1"/>
          <p:nvPr/>
        </p:nvSpPr>
        <p:spPr>
          <a:xfrm>
            <a:off x="822960" y="3657600"/>
            <a:ext cx="2971800" cy="274320"/>
          </a:xfrm>
          <a:prstGeom prst="rect">
            <a:avLst/>
          </a:prstGeom>
          <a:noFill/>
          <a:ln/>
        </p:spPr>
        <p:txBody>
          <a:bodyPr wrap="square" lIns="0" tIns="0" rIns="0" bIns="0" rtlCol="0" anchor="t"/>
          <a:lstStyle/>
          <a:p>
            <a:pPr indent="0" marL="0">
              <a:buNone/>
            </a:pPr>
            <a:r>
              <a:rPr lang="en-US" sz="1400" dirty="0">
                <a:solidFill>
                  <a:schemeClr val="accent5"/>
                </a:solidFill>
              </a:rPr>
              <a:t>Auto-start</a:t>
            </a:r>
            <a:endParaRPr lang="en-US" sz="1400" dirty="0"/>
          </a:p>
        </p:txBody>
      </p:sp>
      <p:sp>
        <p:nvSpPr>
          <p:cNvPr id="10" name="auto text 0"/>
          <p:cNvSpPr txBox="1"/>
          <p:nvPr/>
        </p:nvSpPr>
        <p:spPr>
          <a:xfrm>
            <a:off x="822960" y="3931920"/>
            <a:ext cx="2971800" cy="548640"/>
          </a:xfrm>
          <a:prstGeom prst="rect">
            <a:avLst/>
          </a:prstGeom>
          <a:noFill/>
          <a:ln/>
        </p:spPr>
        <p:txBody>
          <a:bodyPr wrap="square" lIns="0" tIns="0" rIns="0" bIns="0" rtlCol="0" anchor="t"/>
          <a:lstStyle/>
          <a:p>
            <a:pPr indent="0" marL="0">
              <a:buNone/>
            </a:pPr>
            <a:r>
              <a:rPr lang="en-US" sz="1600" dirty="0">
                <a:solidFill>
                  <a:schemeClr val="tx1"/>
                </a:solidFill>
              </a:rPr>
              <a:t>Task Scheduler task at logon</a:t>
            </a:r>
            <a:endParaRPr lang="en-US" sz="1600" dirty="0"/>
          </a:p>
        </p:txBody>
      </p:sp>
      <p:sp>
        <p:nvSpPr>
          <p:cNvPr id="11" name="os card 1"/>
          <p:cNvSpPr/>
          <p:nvPr/>
        </p:nvSpPr>
        <p:spPr>
          <a:xfrm>
            <a:off x="4334256" y="1554480"/>
            <a:ext cx="3520440" cy="3246120"/>
          </a:xfrm>
          <a:prstGeom prst="roundRect">
            <a:avLst>
              <a:gd name="adj" fmla="val 3380"/>
            </a:avLst>
          </a:prstGeom>
          <a:solidFill>
            <a:srgbClr val="EEF3F6"/>
          </a:solidFill>
          <a:ln w="9525">
            <a:solidFill>
              <a:schemeClr val="bg2"/>
            </a:solidFill>
            <a:prstDash val="solid"/>
          </a:ln>
        </p:spPr>
      </p:sp>
      <p:sp>
        <p:nvSpPr>
          <p:cNvPr id="12" name="os icon 1 circle"/>
          <p:cNvSpPr/>
          <p:nvPr/>
        </p:nvSpPr>
        <p:spPr>
          <a:xfrm>
            <a:off x="4608576" y="1783080"/>
            <a:ext cx="777240" cy="777240"/>
          </a:xfrm>
          <a:prstGeom prst="ellipse">
            <a:avLst/>
          </a:prstGeom>
          <a:solidFill>
            <a:srgbClr val="0B2B3A"/>
          </a:solidFill>
          <a:ln w="12700">
            <a:solidFill>
              <a:srgbClr val="0B2B3A"/>
            </a:solidFill>
            <a:prstDash val="solid"/>
          </a:ln>
        </p:spPr>
      </p:sp>
      <p:pic>
        <p:nvPicPr>
          <p:cNvPr id="13" name="Image 1" descr="Apple icon">    </p:cNvPr>
          <p:cNvPicPr>
            <a:picLocks noChangeAspect="1"/>
          </p:cNvPicPr>
          <p:nvPr/>
        </p:nvPicPr>
        <p:blipFill>
          <a:blip r:embed="rId2"/>
          <a:stretch>
            <a:fillRect/>
          </a:stretch>
        </p:blipFill>
        <p:spPr>
          <a:xfrm>
            <a:off x="4802886" y="1977390"/>
            <a:ext cx="388620" cy="388620"/>
          </a:xfrm>
          <a:prstGeom prst="rect">
            <a:avLst/>
          </a:prstGeom>
        </p:spPr>
      </p:pic>
      <p:sp>
        <p:nvSpPr>
          <p:cNvPr id="14" name="os title 1"/>
          <p:cNvSpPr txBox="1"/>
          <p:nvPr/>
        </p:nvSpPr>
        <p:spPr>
          <a:xfrm>
            <a:off x="5568696" y="1874520"/>
            <a:ext cx="2148840" cy="54864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macOS</a:t>
            </a:r>
            <a:endParaRPr lang="en-US" sz="2400" dirty="0"/>
          </a:p>
        </p:txBody>
      </p:sp>
      <p:sp>
        <p:nvSpPr>
          <p:cNvPr id="15" name="start label 1"/>
          <p:cNvSpPr txBox="1"/>
          <p:nvPr/>
        </p:nvSpPr>
        <p:spPr>
          <a:xfrm>
            <a:off x="4608576" y="2788920"/>
            <a:ext cx="2971800" cy="274320"/>
          </a:xfrm>
          <a:prstGeom prst="rect">
            <a:avLst/>
          </a:prstGeom>
          <a:noFill/>
          <a:ln/>
        </p:spPr>
        <p:txBody>
          <a:bodyPr wrap="square" lIns="0" tIns="0" rIns="0" bIns="0" rtlCol="0" anchor="t"/>
          <a:lstStyle/>
          <a:p>
            <a:pPr indent="0" marL="0">
              <a:buNone/>
            </a:pPr>
            <a:r>
              <a:rPr lang="en-US" sz="1400" dirty="0">
                <a:solidFill>
                  <a:schemeClr val="accent5"/>
                </a:solidFill>
              </a:rPr>
              <a:t>Start</a:t>
            </a:r>
            <a:endParaRPr lang="en-US" sz="1400" dirty="0"/>
          </a:p>
        </p:txBody>
      </p:sp>
      <p:sp>
        <p:nvSpPr>
          <p:cNvPr id="16" name="start cmd 1"/>
          <p:cNvSpPr txBox="1"/>
          <p:nvPr/>
        </p:nvSpPr>
        <p:spPr>
          <a:xfrm>
            <a:off x="4608576" y="3063240"/>
            <a:ext cx="2971800" cy="36576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START_MAC.command</a:t>
            </a:r>
            <a:endParaRPr lang="en-US" sz="1600" dirty="0"/>
          </a:p>
        </p:txBody>
      </p:sp>
      <p:sp>
        <p:nvSpPr>
          <p:cNvPr id="17" name="auto label 1"/>
          <p:cNvSpPr txBox="1"/>
          <p:nvPr/>
        </p:nvSpPr>
        <p:spPr>
          <a:xfrm>
            <a:off x="4608576" y="3657600"/>
            <a:ext cx="2971800" cy="274320"/>
          </a:xfrm>
          <a:prstGeom prst="rect">
            <a:avLst/>
          </a:prstGeom>
          <a:noFill/>
          <a:ln/>
        </p:spPr>
        <p:txBody>
          <a:bodyPr wrap="square" lIns="0" tIns="0" rIns="0" bIns="0" rtlCol="0" anchor="t"/>
          <a:lstStyle/>
          <a:p>
            <a:pPr indent="0" marL="0">
              <a:buNone/>
            </a:pPr>
            <a:r>
              <a:rPr lang="en-US" sz="1400" dirty="0">
                <a:solidFill>
                  <a:schemeClr val="accent5"/>
                </a:solidFill>
              </a:rPr>
              <a:t>Auto-start</a:t>
            </a:r>
            <a:endParaRPr lang="en-US" sz="1400" dirty="0"/>
          </a:p>
        </p:txBody>
      </p:sp>
      <p:sp>
        <p:nvSpPr>
          <p:cNvPr id="18" name="auto text 1"/>
          <p:cNvSpPr txBox="1"/>
          <p:nvPr/>
        </p:nvSpPr>
        <p:spPr>
          <a:xfrm>
            <a:off x="4608576" y="3931920"/>
            <a:ext cx="2971800" cy="548640"/>
          </a:xfrm>
          <a:prstGeom prst="rect">
            <a:avLst/>
          </a:prstGeom>
          <a:noFill/>
          <a:ln/>
        </p:spPr>
        <p:txBody>
          <a:bodyPr wrap="square" lIns="0" tIns="0" rIns="0" bIns="0" rtlCol="0" anchor="t"/>
          <a:lstStyle/>
          <a:p>
            <a:pPr indent="0" marL="0">
              <a:buNone/>
            </a:pPr>
            <a:r>
              <a:rPr lang="en-US" sz="1600" dirty="0">
                <a:solidFill>
                  <a:schemeClr val="tx1"/>
                </a:solidFill>
              </a:rPr>
              <a:t>launchd agent at login</a:t>
            </a:r>
            <a:endParaRPr lang="en-US" sz="1600" dirty="0"/>
          </a:p>
        </p:txBody>
      </p:sp>
      <p:sp>
        <p:nvSpPr>
          <p:cNvPr id="19" name="os card 2"/>
          <p:cNvSpPr/>
          <p:nvPr/>
        </p:nvSpPr>
        <p:spPr>
          <a:xfrm>
            <a:off x="8119872" y="1554480"/>
            <a:ext cx="3520440" cy="3246120"/>
          </a:xfrm>
          <a:prstGeom prst="roundRect">
            <a:avLst>
              <a:gd name="adj" fmla="val 3380"/>
            </a:avLst>
          </a:prstGeom>
          <a:solidFill>
            <a:srgbClr val="EEF3F6"/>
          </a:solidFill>
          <a:ln w="9525">
            <a:solidFill>
              <a:schemeClr val="bg2"/>
            </a:solidFill>
            <a:prstDash val="solid"/>
          </a:ln>
        </p:spPr>
      </p:sp>
      <p:sp>
        <p:nvSpPr>
          <p:cNvPr id="20" name="os icon 2 circle"/>
          <p:cNvSpPr/>
          <p:nvPr/>
        </p:nvSpPr>
        <p:spPr>
          <a:xfrm>
            <a:off x="8394192" y="1783080"/>
            <a:ext cx="777240" cy="777240"/>
          </a:xfrm>
          <a:prstGeom prst="ellipse">
            <a:avLst/>
          </a:prstGeom>
          <a:solidFill>
            <a:srgbClr val="0B2B3A"/>
          </a:solidFill>
          <a:ln w="12700">
            <a:solidFill>
              <a:srgbClr val="0B2B3A"/>
            </a:solidFill>
            <a:prstDash val="solid"/>
          </a:ln>
        </p:spPr>
      </p:sp>
      <p:pic>
        <p:nvPicPr>
          <p:cNvPr id="21" name="Image 2" descr="Linux icon">    </p:cNvPr>
          <p:cNvPicPr>
            <a:picLocks noChangeAspect="1"/>
          </p:cNvPicPr>
          <p:nvPr/>
        </p:nvPicPr>
        <p:blipFill>
          <a:blip r:embed="rId3"/>
          <a:stretch>
            <a:fillRect/>
          </a:stretch>
        </p:blipFill>
        <p:spPr>
          <a:xfrm>
            <a:off x="8588502" y="1977390"/>
            <a:ext cx="388620" cy="388620"/>
          </a:xfrm>
          <a:prstGeom prst="rect">
            <a:avLst/>
          </a:prstGeom>
        </p:spPr>
      </p:pic>
      <p:sp>
        <p:nvSpPr>
          <p:cNvPr id="22" name="os title 2"/>
          <p:cNvSpPr txBox="1"/>
          <p:nvPr/>
        </p:nvSpPr>
        <p:spPr>
          <a:xfrm>
            <a:off x="9354312" y="1874520"/>
            <a:ext cx="2148840" cy="54864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Linux</a:t>
            </a:r>
            <a:endParaRPr lang="en-US" sz="2400" dirty="0"/>
          </a:p>
        </p:txBody>
      </p:sp>
      <p:sp>
        <p:nvSpPr>
          <p:cNvPr id="23" name="start label 2"/>
          <p:cNvSpPr txBox="1"/>
          <p:nvPr/>
        </p:nvSpPr>
        <p:spPr>
          <a:xfrm>
            <a:off x="8394192" y="2788920"/>
            <a:ext cx="2971800" cy="274320"/>
          </a:xfrm>
          <a:prstGeom prst="rect">
            <a:avLst/>
          </a:prstGeom>
          <a:noFill/>
          <a:ln/>
        </p:spPr>
        <p:txBody>
          <a:bodyPr wrap="square" lIns="0" tIns="0" rIns="0" bIns="0" rtlCol="0" anchor="t"/>
          <a:lstStyle/>
          <a:p>
            <a:pPr indent="0" marL="0">
              <a:buNone/>
            </a:pPr>
            <a:r>
              <a:rPr lang="en-US" sz="1400" dirty="0">
                <a:solidFill>
                  <a:schemeClr val="accent5"/>
                </a:solidFill>
              </a:rPr>
              <a:t>Start</a:t>
            </a:r>
            <a:endParaRPr lang="en-US" sz="1400" dirty="0"/>
          </a:p>
        </p:txBody>
      </p:sp>
      <p:sp>
        <p:nvSpPr>
          <p:cNvPr id="24" name="start cmd 2"/>
          <p:cNvSpPr txBox="1"/>
          <p:nvPr/>
        </p:nvSpPr>
        <p:spPr>
          <a:xfrm>
            <a:off x="8394192" y="3063240"/>
            <a:ext cx="2971800" cy="36576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./START_LINUX.sh</a:t>
            </a:r>
            <a:endParaRPr lang="en-US" sz="1600" dirty="0"/>
          </a:p>
        </p:txBody>
      </p:sp>
      <p:sp>
        <p:nvSpPr>
          <p:cNvPr id="25" name="auto label 2"/>
          <p:cNvSpPr txBox="1"/>
          <p:nvPr/>
        </p:nvSpPr>
        <p:spPr>
          <a:xfrm>
            <a:off x="8394192" y="3657600"/>
            <a:ext cx="2971800" cy="274320"/>
          </a:xfrm>
          <a:prstGeom prst="rect">
            <a:avLst/>
          </a:prstGeom>
          <a:noFill/>
          <a:ln/>
        </p:spPr>
        <p:txBody>
          <a:bodyPr wrap="square" lIns="0" tIns="0" rIns="0" bIns="0" rtlCol="0" anchor="t"/>
          <a:lstStyle/>
          <a:p>
            <a:pPr indent="0" marL="0">
              <a:buNone/>
            </a:pPr>
            <a:r>
              <a:rPr lang="en-US" sz="1400" dirty="0">
                <a:solidFill>
                  <a:schemeClr val="accent5"/>
                </a:solidFill>
              </a:rPr>
              <a:t>Auto-start</a:t>
            </a:r>
            <a:endParaRPr lang="en-US" sz="1400" dirty="0"/>
          </a:p>
        </p:txBody>
      </p:sp>
      <p:sp>
        <p:nvSpPr>
          <p:cNvPr id="26" name="auto text 2"/>
          <p:cNvSpPr txBox="1"/>
          <p:nvPr/>
        </p:nvSpPr>
        <p:spPr>
          <a:xfrm>
            <a:off x="8394192" y="3931920"/>
            <a:ext cx="2971800" cy="548640"/>
          </a:xfrm>
          <a:prstGeom prst="rect">
            <a:avLst/>
          </a:prstGeom>
          <a:noFill/>
          <a:ln/>
        </p:spPr>
        <p:txBody>
          <a:bodyPr wrap="square" lIns="0" tIns="0" rIns="0" bIns="0" rtlCol="0" anchor="t"/>
          <a:lstStyle/>
          <a:p>
            <a:pPr indent="0" marL="0">
              <a:buNone/>
            </a:pPr>
            <a:r>
              <a:rPr lang="en-US" sz="1600" dirty="0">
                <a:solidFill>
                  <a:schemeClr val="tx1"/>
                </a:solidFill>
              </a:rPr>
              <a:t>systemd service, also at boot</a:t>
            </a:r>
            <a:endParaRPr lang="en-US" sz="1600" dirty="0"/>
          </a:p>
        </p:txBody>
      </p:sp>
      <p:sp>
        <p:nvSpPr>
          <p:cNvPr id="27" name="requirements"/>
          <p:cNvSpPr txBox="1"/>
          <p:nvPr/>
        </p:nvSpPr>
        <p:spPr>
          <a:xfrm>
            <a:off x="548640" y="5120640"/>
            <a:ext cx="11094415" cy="822960"/>
          </a:xfrm>
          <a:prstGeom prst="rect">
            <a:avLst/>
          </a:prstGeom>
          <a:noFill/>
          <a:ln/>
        </p:spPr>
        <p:txBody>
          <a:bodyPr wrap="square" lIns="0" tIns="0" rIns="0" bIns="0" rtlCol="0" anchor="t"/>
          <a:lstStyle/>
          <a:p>
            <a:pPr indent="0" marL="0">
              <a:buNone/>
            </a:pPr>
            <a:r>
              <a:rPr lang="en-US" sz="1800" b="1" dirty="0">
                <a:solidFill>
                  <a:srgbClr val="0B2B3A"/>
                </a:solidFill>
              </a:rPr>
              <a:t>Needs only Python 3.8+ and one file. </a:t>
            </a:r>
            <a:pPr indent="0" marL="0">
              <a:buNone/>
            </a:pPr>
            <a:r>
              <a:rPr lang="en-US" sz="1800" dirty="0">
                <a:solidFill>
                  <a:schemeClr val="tx1"/>
                </a:solidFill>
              </a:rPr>
              <a:t>No packages to install. Give the computer an address on the reader's network, for example 192.168.1.20 with no gateway, then use the one-click setup.</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Built for deployment</a:t>
            </a:r>
            <a:endParaRPr lang="en-US" sz="3400" dirty="0"/>
          </a:p>
        </p:txBody>
      </p:sp>
      <p:sp>
        <p:nvSpPr>
          <p:cNvPr id="3" name="hard card 0"/>
          <p:cNvSpPr/>
          <p:nvPr/>
        </p:nvSpPr>
        <p:spPr>
          <a:xfrm>
            <a:off x="548640" y="1554480"/>
            <a:ext cx="3520440" cy="1920240"/>
          </a:xfrm>
          <a:prstGeom prst="roundRect">
            <a:avLst>
              <a:gd name="adj" fmla="val 5714"/>
            </a:avLst>
          </a:prstGeom>
          <a:solidFill>
            <a:srgbClr val="EEF3F6"/>
          </a:solidFill>
          <a:ln w="9525">
            <a:solidFill>
              <a:schemeClr val="bg2"/>
            </a:solidFill>
            <a:prstDash val="solid"/>
          </a:ln>
        </p:spPr>
      </p:sp>
      <p:sp>
        <p:nvSpPr>
          <p:cNvPr id="4" name="hard icon 0 circle"/>
          <p:cNvSpPr/>
          <p:nvPr/>
        </p:nvSpPr>
        <p:spPr>
          <a:xfrm>
            <a:off x="822960" y="1828800"/>
            <a:ext cx="685800" cy="685800"/>
          </a:xfrm>
          <a:prstGeom prst="ellipse">
            <a:avLst/>
          </a:prstGeom>
          <a:solidFill>
            <a:srgbClr val="2FA37C"/>
          </a:solidFill>
          <a:ln w="12700">
            <a:solidFill>
              <a:srgbClr val="2FA37C"/>
            </a:solidFill>
            <a:prstDash val="solid"/>
          </a:ln>
        </p:spPr>
      </p:sp>
      <p:pic>
        <p:nvPicPr>
          <p:cNvPr id="5" name="Image 0" descr="TrafficLight icon">    </p:cNvPr>
          <p:cNvPicPr>
            <a:picLocks noChangeAspect="1"/>
          </p:cNvPicPr>
          <p:nvPr/>
        </p:nvPicPr>
        <p:blipFill>
          <a:blip r:embed="rId1"/>
          <a:stretch>
            <a:fillRect/>
          </a:stretch>
        </p:blipFill>
        <p:spPr>
          <a:xfrm>
            <a:off x="994410" y="2000250"/>
            <a:ext cx="342900" cy="342900"/>
          </a:xfrm>
          <a:prstGeom prst="rect">
            <a:avLst/>
          </a:prstGeom>
        </p:spPr>
      </p:pic>
      <p:sp>
        <p:nvSpPr>
          <p:cNvPr id="6" name="hard title 0"/>
          <p:cNvSpPr txBox="1"/>
          <p:nvPr/>
        </p:nvSpPr>
        <p:spPr>
          <a:xfrm>
            <a:off x="1691640" y="1901952"/>
            <a:ext cx="2240280" cy="548640"/>
          </a:xfrm>
          <a:prstGeom prst="rect">
            <a:avLst/>
          </a:prstGeom>
          <a:noFill/>
          <a:ln/>
        </p:spPr>
        <p:txBody>
          <a:bodyPr wrap="square" lIns="0" tIns="0" rIns="0" bIns="0" rtlCol="0" anchor="ctr"/>
          <a:lstStyle/>
          <a:p>
            <a:pPr indent="0" marL="0">
              <a:buNone/>
            </a:pPr>
            <a:r>
              <a:rPr lang="en-US" sz="1800" b="1" dirty="0">
                <a:solidFill>
                  <a:schemeClr val="tx2"/>
                </a:solidFill>
              </a:rPr>
              <a:t>Clear status</a:t>
            </a:r>
            <a:endParaRPr lang="en-US" sz="1800" dirty="0"/>
          </a:p>
        </p:txBody>
      </p:sp>
      <p:sp>
        <p:nvSpPr>
          <p:cNvPr id="7" name="hard text 0"/>
          <p:cNvSpPr txBox="1"/>
          <p:nvPr/>
        </p:nvSpPr>
        <p:spPr>
          <a:xfrm>
            <a:off x="822960" y="2651760"/>
            <a:ext cx="2971800" cy="731520"/>
          </a:xfrm>
          <a:prstGeom prst="rect">
            <a:avLst/>
          </a:prstGeom>
          <a:noFill/>
          <a:ln/>
        </p:spPr>
        <p:txBody>
          <a:bodyPr wrap="square" lIns="0" tIns="0" rIns="0" bIns="0" rtlCol="0" anchor="t"/>
          <a:lstStyle/>
          <a:p>
            <a:pPr indent="0" marL="0">
              <a:buNone/>
            </a:pPr>
            <a:r>
              <a:rPr lang="en-US" sz="1400" dirty="0">
                <a:solidFill>
                  <a:schemeClr val="tx1"/>
                </a:solidFill>
              </a:rPr>
              <a:t>Green, amber or red bar tells you what to check</a:t>
            </a:r>
            <a:endParaRPr lang="en-US" sz="1400" dirty="0"/>
          </a:p>
        </p:txBody>
      </p:sp>
      <p:sp>
        <p:nvSpPr>
          <p:cNvPr id="8" name="hard card 1"/>
          <p:cNvSpPr/>
          <p:nvPr/>
        </p:nvSpPr>
        <p:spPr>
          <a:xfrm>
            <a:off x="4334256" y="1554480"/>
            <a:ext cx="3520440" cy="1920240"/>
          </a:xfrm>
          <a:prstGeom prst="roundRect">
            <a:avLst>
              <a:gd name="adj" fmla="val 5714"/>
            </a:avLst>
          </a:prstGeom>
          <a:solidFill>
            <a:srgbClr val="EEF3F6"/>
          </a:solidFill>
          <a:ln w="9525">
            <a:solidFill>
              <a:schemeClr val="bg2"/>
            </a:solidFill>
            <a:prstDash val="solid"/>
          </a:ln>
        </p:spPr>
      </p:sp>
      <p:sp>
        <p:nvSpPr>
          <p:cNvPr id="9" name="hard icon 1 circle"/>
          <p:cNvSpPr/>
          <p:nvPr/>
        </p:nvSpPr>
        <p:spPr>
          <a:xfrm>
            <a:off x="4608576" y="1828800"/>
            <a:ext cx="685800" cy="685800"/>
          </a:xfrm>
          <a:prstGeom prst="ellipse">
            <a:avLst/>
          </a:prstGeom>
          <a:solidFill>
            <a:srgbClr val="D9534F"/>
          </a:solidFill>
          <a:ln w="12700">
            <a:solidFill>
              <a:srgbClr val="D9534F"/>
            </a:solidFill>
            <a:prstDash val="solid"/>
          </a:ln>
        </p:spPr>
      </p:sp>
      <p:pic>
        <p:nvPicPr>
          <p:cNvPr id="10" name="Image 1" descr="Heartbeat icon">    </p:cNvPr>
          <p:cNvPicPr>
            <a:picLocks noChangeAspect="1"/>
          </p:cNvPicPr>
          <p:nvPr/>
        </p:nvPicPr>
        <p:blipFill>
          <a:blip r:embed="rId2"/>
          <a:stretch>
            <a:fillRect/>
          </a:stretch>
        </p:blipFill>
        <p:spPr>
          <a:xfrm>
            <a:off x="4780026" y="2000250"/>
            <a:ext cx="342900" cy="342900"/>
          </a:xfrm>
          <a:prstGeom prst="rect">
            <a:avLst/>
          </a:prstGeom>
        </p:spPr>
      </p:pic>
      <p:sp>
        <p:nvSpPr>
          <p:cNvPr id="11" name="hard title 1"/>
          <p:cNvSpPr txBox="1"/>
          <p:nvPr/>
        </p:nvSpPr>
        <p:spPr>
          <a:xfrm>
            <a:off x="5477256" y="1901952"/>
            <a:ext cx="2240280" cy="548640"/>
          </a:xfrm>
          <a:prstGeom prst="rect">
            <a:avLst/>
          </a:prstGeom>
          <a:noFill/>
          <a:ln/>
        </p:spPr>
        <p:txBody>
          <a:bodyPr wrap="square" lIns="0" tIns="0" rIns="0" bIns="0" rtlCol="0" anchor="ctr"/>
          <a:lstStyle/>
          <a:p>
            <a:pPr indent="0" marL="0">
              <a:buNone/>
            </a:pPr>
            <a:r>
              <a:rPr lang="en-US" sz="1800" b="1" dirty="0">
                <a:solidFill>
                  <a:schemeClr val="tx2"/>
                </a:solidFill>
              </a:rPr>
              <a:t>Health URL</a:t>
            </a:r>
            <a:endParaRPr lang="en-US" sz="1800" dirty="0"/>
          </a:p>
        </p:txBody>
      </p:sp>
      <p:sp>
        <p:nvSpPr>
          <p:cNvPr id="12" name="hard text 1"/>
          <p:cNvSpPr txBox="1"/>
          <p:nvPr/>
        </p:nvSpPr>
        <p:spPr>
          <a:xfrm>
            <a:off x="4608576" y="2651760"/>
            <a:ext cx="2971800" cy="731520"/>
          </a:xfrm>
          <a:prstGeom prst="rect">
            <a:avLst/>
          </a:prstGeom>
          <a:noFill/>
          <a:ln/>
        </p:spPr>
        <p:txBody>
          <a:bodyPr wrap="square" lIns="0" tIns="0" rIns="0" bIns="0" rtlCol="0" anchor="t"/>
          <a:lstStyle/>
          <a:p>
            <a:pPr indent="0" marL="0">
              <a:buNone/>
            </a:pPr>
            <a:r>
              <a:rPr lang="en-US" sz="1400" dirty="0">
                <a:solidFill>
                  <a:schemeClr val="tx1"/>
                </a:solidFill>
              </a:rPr>
              <a:t>/api/health returns 200 when a reader is pushing, else 503</a:t>
            </a:r>
            <a:endParaRPr lang="en-US" sz="1400" dirty="0"/>
          </a:p>
        </p:txBody>
      </p:sp>
      <p:sp>
        <p:nvSpPr>
          <p:cNvPr id="13" name="hard card 2"/>
          <p:cNvSpPr/>
          <p:nvPr/>
        </p:nvSpPr>
        <p:spPr>
          <a:xfrm>
            <a:off x="8119872" y="1554480"/>
            <a:ext cx="3520440" cy="1920240"/>
          </a:xfrm>
          <a:prstGeom prst="roundRect">
            <a:avLst>
              <a:gd name="adj" fmla="val 5714"/>
            </a:avLst>
          </a:prstGeom>
          <a:solidFill>
            <a:srgbClr val="EEF3F6"/>
          </a:solidFill>
          <a:ln w="9525">
            <a:solidFill>
              <a:schemeClr val="bg2"/>
            </a:solidFill>
            <a:prstDash val="solid"/>
          </a:ln>
        </p:spPr>
      </p:sp>
      <p:sp>
        <p:nvSpPr>
          <p:cNvPr id="14" name="hard icon 2 circle"/>
          <p:cNvSpPr/>
          <p:nvPr/>
        </p:nvSpPr>
        <p:spPr>
          <a:xfrm>
            <a:off x="8394192" y="1828800"/>
            <a:ext cx="685800" cy="685800"/>
          </a:xfrm>
          <a:prstGeom prst="ellipse">
            <a:avLst/>
          </a:prstGeom>
          <a:solidFill>
            <a:srgbClr val="0B2B3A"/>
          </a:solidFill>
          <a:ln w="12700">
            <a:solidFill>
              <a:srgbClr val="0B2B3A"/>
            </a:solidFill>
            <a:prstDash val="solid"/>
          </a:ln>
        </p:spPr>
      </p:sp>
      <p:pic>
        <p:nvPicPr>
          <p:cNvPr id="15" name="Image 2" descr="Lock icon">    </p:cNvPr>
          <p:cNvPicPr>
            <a:picLocks noChangeAspect="1"/>
          </p:cNvPicPr>
          <p:nvPr/>
        </p:nvPicPr>
        <p:blipFill>
          <a:blip r:embed="rId3"/>
          <a:stretch>
            <a:fillRect/>
          </a:stretch>
        </p:blipFill>
        <p:spPr>
          <a:xfrm>
            <a:off x="8565642" y="2000250"/>
            <a:ext cx="342900" cy="342900"/>
          </a:xfrm>
          <a:prstGeom prst="rect">
            <a:avLst/>
          </a:prstGeom>
        </p:spPr>
      </p:pic>
      <p:sp>
        <p:nvSpPr>
          <p:cNvPr id="16" name="hard title 2"/>
          <p:cNvSpPr txBox="1"/>
          <p:nvPr/>
        </p:nvSpPr>
        <p:spPr>
          <a:xfrm>
            <a:off x="9262872" y="1901952"/>
            <a:ext cx="2240280" cy="548640"/>
          </a:xfrm>
          <a:prstGeom prst="rect">
            <a:avLst/>
          </a:prstGeom>
          <a:noFill/>
          <a:ln/>
        </p:spPr>
        <p:txBody>
          <a:bodyPr wrap="square" lIns="0" tIns="0" rIns="0" bIns="0" rtlCol="0" anchor="ctr"/>
          <a:lstStyle/>
          <a:p>
            <a:pPr indent="0" marL="0">
              <a:buNone/>
            </a:pPr>
            <a:r>
              <a:rPr lang="en-US" sz="1800" b="1" dirty="0">
                <a:solidFill>
                  <a:schemeClr val="tx2"/>
                </a:solidFill>
              </a:rPr>
              <a:t>Password</a:t>
            </a:r>
            <a:endParaRPr lang="en-US" sz="1800" dirty="0"/>
          </a:p>
        </p:txBody>
      </p:sp>
      <p:sp>
        <p:nvSpPr>
          <p:cNvPr id="17" name="hard text 2"/>
          <p:cNvSpPr txBox="1"/>
          <p:nvPr/>
        </p:nvSpPr>
        <p:spPr>
          <a:xfrm>
            <a:off x="8394192" y="2651760"/>
            <a:ext cx="2971800" cy="731520"/>
          </a:xfrm>
          <a:prstGeom prst="rect">
            <a:avLst/>
          </a:prstGeom>
          <a:noFill/>
          <a:ln/>
        </p:spPr>
        <p:txBody>
          <a:bodyPr wrap="square" lIns="0" tIns="0" rIns="0" bIns="0" rtlCol="0" anchor="t"/>
          <a:lstStyle/>
          <a:p>
            <a:pPr indent="0" marL="0">
              <a:buNone/>
            </a:pPr>
            <a:r>
              <a:rPr lang="en-US" sz="1400" dirty="0">
                <a:solidFill>
                  <a:schemeClr val="tx1"/>
                </a:solidFill>
              </a:rPr>
              <a:t>Optional password for the web page</a:t>
            </a:r>
            <a:endParaRPr lang="en-US" sz="1400" dirty="0"/>
          </a:p>
        </p:txBody>
      </p:sp>
      <p:sp>
        <p:nvSpPr>
          <p:cNvPr id="18" name="hard card 3"/>
          <p:cNvSpPr/>
          <p:nvPr/>
        </p:nvSpPr>
        <p:spPr>
          <a:xfrm>
            <a:off x="548640" y="3749040"/>
            <a:ext cx="3520440" cy="1920240"/>
          </a:xfrm>
          <a:prstGeom prst="roundRect">
            <a:avLst>
              <a:gd name="adj" fmla="val 5714"/>
            </a:avLst>
          </a:prstGeom>
          <a:solidFill>
            <a:srgbClr val="EEF3F6"/>
          </a:solidFill>
          <a:ln w="9525">
            <a:solidFill>
              <a:schemeClr val="bg2"/>
            </a:solidFill>
            <a:prstDash val="solid"/>
          </a:ln>
        </p:spPr>
      </p:sp>
      <p:sp>
        <p:nvSpPr>
          <p:cNvPr id="19" name="hard icon 3 circle"/>
          <p:cNvSpPr/>
          <p:nvPr/>
        </p:nvSpPr>
        <p:spPr>
          <a:xfrm>
            <a:off x="822960" y="4023360"/>
            <a:ext cx="685800" cy="685800"/>
          </a:xfrm>
          <a:prstGeom prst="ellipse">
            <a:avLst/>
          </a:prstGeom>
          <a:solidFill>
            <a:srgbClr val="1F8A9E"/>
          </a:solidFill>
          <a:ln w="12700">
            <a:solidFill>
              <a:srgbClr val="1F8A9E"/>
            </a:solidFill>
            <a:prstDash val="solid"/>
          </a:ln>
        </p:spPr>
      </p:sp>
      <p:pic>
        <p:nvPicPr>
          <p:cNvPr id="20" name="Image 3" descr="ShieldAlt icon">    </p:cNvPr>
          <p:cNvPicPr>
            <a:picLocks noChangeAspect="1"/>
          </p:cNvPicPr>
          <p:nvPr/>
        </p:nvPicPr>
        <p:blipFill>
          <a:blip r:embed="rId4"/>
          <a:stretch>
            <a:fillRect/>
          </a:stretch>
        </p:blipFill>
        <p:spPr>
          <a:xfrm>
            <a:off x="994410" y="4194810"/>
            <a:ext cx="342900" cy="342900"/>
          </a:xfrm>
          <a:prstGeom prst="rect">
            <a:avLst/>
          </a:prstGeom>
        </p:spPr>
      </p:pic>
      <p:sp>
        <p:nvSpPr>
          <p:cNvPr id="21" name="hard title 3"/>
          <p:cNvSpPr txBox="1"/>
          <p:nvPr/>
        </p:nvSpPr>
        <p:spPr>
          <a:xfrm>
            <a:off x="1691640" y="4096512"/>
            <a:ext cx="2240280" cy="548640"/>
          </a:xfrm>
          <a:prstGeom prst="rect">
            <a:avLst/>
          </a:prstGeom>
          <a:noFill/>
          <a:ln/>
        </p:spPr>
        <p:txBody>
          <a:bodyPr wrap="square" lIns="0" tIns="0" rIns="0" bIns="0" rtlCol="0" anchor="ctr"/>
          <a:lstStyle/>
          <a:p>
            <a:pPr indent="0" marL="0">
              <a:buNone/>
            </a:pPr>
            <a:r>
              <a:rPr lang="en-US" sz="1800" b="1" dirty="0">
                <a:solidFill>
                  <a:schemeClr val="tx2"/>
                </a:solidFill>
              </a:rPr>
              <a:t>Reader allow-list</a:t>
            </a:r>
            <a:endParaRPr lang="en-US" sz="1800" dirty="0"/>
          </a:p>
        </p:txBody>
      </p:sp>
      <p:sp>
        <p:nvSpPr>
          <p:cNvPr id="22" name="hard text 3"/>
          <p:cNvSpPr txBox="1"/>
          <p:nvPr/>
        </p:nvSpPr>
        <p:spPr>
          <a:xfrm>
            <a:off x="822960" y="4846320"/>
            <a:ext cx="2971800" cy="731520"/>
          </a:xfrm>
          <a:prstGeom prst="rect">
            <a:avLst/>
          </a:prstGeom>
          <a:noFill/>
          <a:ln/>
        </p:spPr>
        <p:txBody>
          <a:bodyPr wrap="square" lIns="0" tIns="0" rIns="0" bIns="0" rtlCol="0" anchor="t"/>
          <a:lstStyle/>
          <a:p>
            <a:pPr indent="0" marL="0">
              <a:buNone/>
            </a:pPr>
            <a:r>
              <a:rPr lang="en-US" sz="1400" dirty="0">
                <a:solidFill>
                  <a:schemeClr val="tx1"/>
                </a:solidFill>
              </a:rPr>
              <a:t>Only chosen reader IPs may send tags</a:t>
            </a:r>
            <a:endParaRPr lang="en-US" sz="1400" dirty="0"/>
          </a:p>
        </p:txBody>
      </p:sp>
      <p:sp>
        <p:nvSpPr>
          <p:cNvPr id="23" name="hard card 4"/>
          <p:cNvSpPr/>
          <p:nvPr/>
        </p:nvSpPr>
        <p:spPr>
          <a:xfrm>
            <a:off x="4334256" y="3749040"/>
            <a:ext cx="3520440" cy="1920240"/>
          </a:xfrm>
          <a:prstGeom prst="roundRect">
            <a:avLst>
              <a:gd name="adj" fmla="val 5714"/>
            </a:avLst>
          </a:prstGeom>
          <a:solidFill>
            <a:srgbClr val="EEF3F6"/>
          </a:solidFill>
          <a:ln w="9525">
            <a:solidFill>
              <a:schemeClr val="bg2"/>
            </a:solidFill>
            <a:prstDash val="solid"/>
          </a:ln>
        </p:spPr>
      </p:sp>
      <p:sp>
        <p:nvSpPr>
          <p:cNvPr id="24" name="hard icon 4 circle"/>
          <p:cNvSpPr/>
          <p:nvPr/>
        </p:nvSpPr>
        <p:spPr>
          <a:xfrm>
            <a:off x="4608576" y="4023360"/>
            <a:ext cx="685800" cy="685800"/>
          </a:xfrm>
          <a:prstGeom prst="ellipse">
            <a:avLst/>
          </a:prstGeom>
          <a:solidFill>
            <a:srgbClr val="FF7A1A"/>
          </a:solidFill>
          <a:ln w="12700">
            <a:solidFill>
              <a:srgbClr val="FF7A1A"/>
            </a:solidFill>
            <a:prstDash val="solid"/>
          </a:ln>
        </p:spPr>
      </p:sp>
      <p:pic>
        <p:nvPicPr>
          <p:cNvPr id="25" name="Image 4" descr="Redo icon">    </p:cNvPr>
          <p:cNvPicPr>
            <a:picLocks noChangeAspect="1"/>
          </p:cNvPicPr>
          <p:nvPr/>
        </p:nvPicPr>
        <p:blipFill>
          <a:blip r:embed="rId5"/>
          <a:stretch>
            <a:fillRect/>
          </a:stretch>
        </p:blipFill>
        <p:spPr>
          <a:xfrm>
            <a:off x="4780026" y="4194810"/>
            <a:ext cx="342900" cy="342900"/>
          </a:xfrm>
          <a:prstGeom prst="rect">
            <a:avLst/>
          </a:prstGeom>
        </p:spPr>
      </p:pic>
      <p:sp>
        <p:nvSpPr>
          <p:cNvPr id="26" name="hard title 4"/>
          <p:cNvSpPr txBox="1"/>
          <p:nvPr/>
        </p:nvSpPr>
        <p:spPr>
          <a:xfrm>
            <a:off x="5477256" y="4096512"/>
            <a:ext cx="2240280" cy="548640"/>
          </a:xfrm>
          <a:prstGeom prst="rect">
            <a:avLst/>
          </a:prstGeom>
          <a:noFill/>
          <a:ln/>
        </p:spPr>
        <p:txBody>
          <a:bodyPr wrap="square" lIns="0" tIns="0" rIns="0" bIns="0" rtlCol="0" anchor="ctr"/>
          <a:lstStyle/>
          <a:p>
            <a:pPr indent="0" marL="0">
              <a:buNone/>
            </a:pPr>
            <a:r>
              <a:rPr lang="en-US" sz="1800" b="1" dirty="0">
                <a:solidFill>
                  <a:schemeClr val="tx2"/>
                </a:solidFill>
              </a:rPr>
              <a:t>Self-recovery</a:t>
            </a:r>
            <a:endParaRPr lang="en-US" sz="1800" dirty="0"/>
          </a:p>
        </p:txBody>
      </p:sp>
      <p:sp>
        <p:nvSpPr>
          <p:cNvPr id="27" name="hard text 4"/>
          <p:cNvSpPr txBox="1"/>
          <p:nvPr/>
        </p:nvSpPr>
        <p:spPr>
          <a:xfrm>
            <a:off x="4608576" y="4846320"/>
            <a:ext cx="2971800" cy="731520"/>
          </a:xfrm>
          <a:prstGeom prst="rect">
            <a:avLst/>
          </a:prstGeom>
          <a:noFill/>
          <a:ln/>
        </p:spPr>
        <p:txBody>
          <a:bodyPr wrap="square" lIns="0" tIns="0" rIns="0" bIns="0" rtlCol="0" anchor="t"/>
          <a:lstStyle/>
          <a:p>
            <a:pPr indent="0" marL="0">
              <a:buNone/>
            </a:pPr>
            <a:r>
              <a:rPr lang="en-US" sz="1400" dirty="0">
                <a:solidFill>
                  <a:schemeClr val="tx1"/>
                </a:solidFill>
              </a:rPr>
              <a:t>Restarts after a crash; started on 3 reboots in a row</a:t>
            </a:r>
            <a:endParaRPr lang="en-US" sz="1400" dirty="0"/>
          </a:p>
        </p:txBody>
      </p:sp>
      <p:sp>
        <p:nvSpPr>
          <p:cNvPr id="28" name="hard card 5"/>
          <p:cNvSpPr/>
          <p:nvPr/>
        </p:nvSpPr>
        <p:spPr>
          <a:xfrm>
            <a:off x="8119872" y="3749040"/>
            <a:ext cx="3520440" cy="1920240"/>
          </a:xfrm>
          <a:prstGeom prst="roundRect">
            <a:avLst>
              <a:gd name="adj" fmla="val 5714"/>
            </a:avLst>
          </a:prstGeom>
          <a:solidFill>
            <a:srgbClr val="EEF3F6"/>
          </a:solidFill>
          <a:ln w="9525">
            <a:solidFill>
              <a:schemeClr val="bg2"/>
            </a:solidFill>
            <a:prstDash val="solid"/>
          </a:ln>
        </p:spPr>
      </p:sp>
      <p:sp>
        <p:nvSpPr>
          <p:cNvPr id="29" name="hard icon 5 circle"/>
          <p:cNvSpPr/>
          <p:nvPr/>
        </p:nvSpPr>
        <p:spPr>
          <a:xfrm>
            <a:off x="8394192" y="4023360"/>
            <a:ext cx="685800" cy="685800"/>
          </a:xfrm>
          <a:prstGeom prst="ellipse">
            <a:avLst/>
          </a:prstGeom>
          <a:solidFill>
            <a:srgbClr val="6C7A89"/>
          </a:solidFill>
          <a:ln w="12700">
            <a:solidFill>
              <a:srgbClr val="6C7A89"/>
            </a:solidFill>
            <a:prstDash val="solid"/>
          </a:ln>
        </p:spPr>
      </p:sp>
      <p:pic>
        <p:nvPicPr>
          <p:cNvPr id="30" name="Image 5" descr="Save icon">    </p:cNvPr>
          <p:cNvPicPr>
            <a:picLocks noChangeAspect="1"/>
          </p:cNvPicPr>
          <p:nvPr/>
        </p:nvPicPr>
        <p:blipFill>
          <a:blip r:embed="rId6"/>
          <a:stretch>
            <a:fillRect/>
          </a:stretch>
        </p:blipFill>
        <p:spPr>
          <a:xfrm>
            <a:off x="8565642" y="4194810"/>
            <a:ext cx="342900" cy="342900"/>
          </a:xfrm>
          <a:prstGeom prst="rect">
            <a:avLst/>
          </a:prstGeom>
        </p:spPr>
      </p:pic>
      <p:sp>
        <p:nvSpPr>
          <p:cNvPr id="31" name="hard title 5"/>
          <p:cNvSpPr txBox="1"/>
          <p:nvPr/>
        </p:nvSpPr>
        <p:spPr>
          <a:xfrm>
            <a:off x="9262872" y="4096512"/>
            <a:ext cx="2240280" cy="548640"/>
          </a:xfrm>
          <a:prstGeom prst="rect">
            <a:avLst/>
          </a:prstGeom>
          <a:noFill/>
          <a:ln/>
        </p:spPr>
        <p:txBody>
          <a:bodyPr wrap="square" lIns="0" tIns="0" rIns="0" bIns="0" rtlCol="0" anchor="ctr"/>
          <a:lstStyle/>
          <a:p>
            <a:pPr indent="0" marL="0">
              <a:buNone/>
            </a:pPr>
            <a:r>
              <a:rPr lang="en-US" sz="1800" b="1" dirty="0">
                <a:solidFill>
                  <a:schemeClr val="tx2"/>
                </a:solidFill>
              </a:rPr>
              <a:t>Backup and restore</a:t>
            </a:r>
            <a:endParaRPr lang="en-US" sz="1800" dirty="0"/>
          </a:p>
        </p:txBody>
      </p:sp>
      <p:sp>
        <p:nvSpPr>
          <p:cNvPr id="32" name="hard text 5"/>
          <p:cNvSpPr txBox="1"/>
          <p:nvPr/>
        </p:nvSpPr>
        <p:spPr>
          <a:xfrm>
            <a:off x="8394192" y="4846320"/>
            <a:ext cx="2971800" cy="731520"/>
          </a:xfrm>
          <a:prstGeom prst="rect">
            <a:avLst/>
          </a:prstGeom>
          <a:noFill/>
          <a:ln/>
        </p:spPr>
        <p:txBody>
          <a:bodyPr wrap="square" lIns="0" tIns="0" rIns="0" bIns="0" rtlCol="0" anchor="t"/>
          <a:lstStyle/>
          <a:p>
            <a:pPr indent="0" marL="0">
              <a:buNone/>
            </a:pPr>
            <a:r>
              <a:rPr lang="en-US" sz="1400" dirty="0">
                <a:solidFill>
                  <a:schemeClr val="tx1"/>
                </a:solidFill>
              </a:rPr>
              <a:t>Reader settings backed up before every change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What is tested, and what is not yet</a:t>
            </a:r>
            <a:endParaRPr lang="en-US" sz="3400" dirty="0"/>
          </a:p>
        </p:txBody>
      </p:sp>
      <p:sp>
        <p:nvSpPr>
          <p:cNvPr id="3" name="tested card"/>
          <p:cNvSpPr/>
          <p:nvPr/>
        </p:nvSpPr>
        <p:spPr>
          <a:xfrm>
            <a:off x="548640" y="1508760"/>
            <a:ext cx="5394960" cy="4526280"/>
          </a:xfrm>
          <a:prstGeom prst="roundRect">
            <a:avLst>
              <a:gd name="adj" fmla="val 2424"/>
            </a:avLst>
          </a:prstGeom>
          <a:solidFill>
            <a:srgbClr val="E5F4EE"/>
          </a:solidFill>
          <a:ln w="9525">
            <a:solidFill>
              <a:schemeClr val="bg2"/>
            </a:solidFill>
            <a:prstDash val="solid"/>
          </a:ln>
        </p:spPr>
      </p:sp>
      <p:sp>
        <p:nvSpPr>
          <p:cNvPr id="4" name="untested card"/>
          <p:cNvSpPr/>
          <p:nvPr/>
        </p:nvSpPr>
        <p:spPr>
          <a:xfrm>
            <a:off x="6248095" y="1508760"/>
            <a:ext cx="5394960" cy="4526280"/>
          </a:xfrm>
          <a:prstGeom prst="roundRect">
            <a:avLst>
              <a:gd name="adj" fmla="val 2424"/>
            </a:avLst>
          </a:prstGeom>
          <a:solidFill>
            <a:srgbClr val="FBF0DC"/>
          </a:solidFill>
          <a:ln w="9525">
            <a:solidFill>
              <a:schemeClr val="bg2"/>
            </a:solidFill>
            <a:prstDash val="solid"/>
          </a:ln>
        </p:spPr>
      </p:sp>
      <p:sp>
        <p:nvSpPr>
          <p:cNvPr id="5" name="tested circle"/>
          <p:cNvSpPr/>
          <p:nvPr/>
        </p:nvSpPr>
        <p:spPr>
          <a:xfrm>
            <a:off x="822960" y="1737360"/>
            <a:ext cx="548640" cy="548640"/>
          </a:xfrm>
          <a:prstGeom prst="ellipse">
            <a:avLst/>
          </a:prstGeom>
          <a:solidFill>
            <a:srgbClr val="2FA37C"/>
          </a:solidFill>
          <a:ln w="12700">
            <a:solidFill>
              <a:srgbClr val="2FA37C"/>
            </a:solidFill>
            <a:prstDash val="solid"/>
          </a:ln>
        </p:spPr>
      </p:sp>
      <p:pic>
        <p:nvPicPr>
          <p:cNvPr id="6" name="Image 0" descr="Check icon">    </p:cNvPr>
          <p:cNvPicPr>
            <a:picLocks noChangeAspect="1"/>
          </p:cNvPicPr>
          <p:nvPr/>
        </p:nvPicPr>
        <p:blipFill>
          <a:blip r:embed="rId1"/>
          <a:stretch>
            <a:fillRect/>
          </a:stretch>
        </p:blipFill>
        <p:spPr>
          <a:xfrm>
            <a:off x="960120" y="1874520"/>
            <a:ext cx="274320" cy="274320"/>
          </a:xfrm>
          <a:prstGeom prst="rect">
            <a:avLst/>
          </a:prstGeom>
        </p:spPr>
      </p:pic>
      <p:sp>
        <p:nvSpPr>
          <p:cNvPr id="7" name="tested title"/>
          <p:cNvSpPr txBox="1"/>
          <p:nvPr/>
        </p:nvSpPr>
        <p:spPr>
          <a:xfrm>
            <a:off x="1554480" y="1783080"/>
            <a:ext cx="3657600" cy="457200"/>
          </a:xfrm>
          <a:prstGeom prst="rect">
            <a:avLst/>
          </a:prstGeom>
          <a:noFill/>
          <a:ln/>
        </p:spPr>
        <p:txBody>
          <a:bodyPr wrap="square" lIns="0" tIns="0" rIns="0" bIns="0" rtlCol="0" anchor="ctr"/>
          <a:lstStyle/>
          <a:p>
            <a:pPr indent="0" marL="0">
              <a:buNone/>
            </a:pPr>
            <a:r>
              <a:rPr lang="en-US" sz="2200" b="1" dirty="0">
                <a:solidFill>
                  <a:schemeClr val="tx2"/>
                </a:solidFill>
              </a:rPr>
              <a:t>Tested</a:t>
            </a:r>
            <a:endParaRPr lang="en-US" sz="2200" dirty="0"/>
          </a:p>
        </p:txBody>
      </p:sp>
      <p:sp>
        <p:nvSpPr>
          <p:cNvPr id="8" name="tested list"/>
          <p:cNvSpPr txBox="1"/>
          <p:nvPr/>
        </p:nvSpPr>
        <p:spPr>
          <a:xfrm>
            <a:off x="868680" y="2514600"/>
            <a:ext cx="4754880" cy="33832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Tags over Ethernet into the CSV on the real reader (Linux)</a:t>
            </a:r>
            <a:endParaRPr lang="en-US" sz="1800" dirty="0"/>
          </a:p>
          <a:p>
            <a:pPr marL="342900" indent="-342900">
              <a:spcAft>
                <a:spcPts val="800"/>
              </a:spcAft>
              <a:buSzPct val="100000"/>
              <a:buChar char="•"/>
            </a:pPr>
            <a:r>
              <a:rPr lang="en-US" sz="1800" dirty="0">
                <a:solidFill>
                  <a:schemeClr val="tx1"/>
                </a:solidFill>
              </a:rPr>
              <a:t>Reading and decoding the reader's settings</a:t>
            </a:r>
            <a:endParaRPr lang="en-US" sz="1800" dirty="0"/>
          </a:p>
          <a:p>
            <a:pPr marL="342900" indent="-342900">
              <a:spcAft>
                <a:spcPts val="800"/>
              </a:spcAft>
              <a:buSzPct val="100000"/>
              <a:buChar char="•"/>
            </a:pPr>
            <a:r>
              <a:rPr lang="en-US" sz="1800" dirty="0">
                <a:solidFill>
                  <a:schemeClr val="tx1"/>
                </a:solidFill>
              </a:rPr>
              <a:t>Start at boot (3 reboots) and restart after a crash</a:t>
            </a:r>
            <a:endParaRPr lang="en-US" sz="1800" dirty="0"/>
          </a:p>
          <a:p>
            <a:pPr marL="342900" indent="-342900">
              <a:spcAft>
                <a:spcPts val="800"/>
              </a:spcAft>
              <a:buSzPct val="100000"/>
              <a:buChar char="•"/>
            </a:pPr>
            <a:r>
              <a:rPr lang="en-US" sz="1800" dirty="0">
                <a:solidFill>
                  <a:schemeClr val="tx1"/>
                </a:solidFill>
              </a:rPr>
              <a:t>HTTP, MQTT and TCP forwarding against test servers</a:t>
            </a:r>
            <a:endParaRPr lang="en-US" sz="1800" dirty="0"/>
          </a:p>
          <a:p>
            <a:pPr marL="342900" indent="-342900">
              <a:buSzPct val="100000"/>
              <a:buChar char="•"/>
            </a:pPr>
            <a:r>
              <a:rPr lang="en-US" sz="1800" dirty="0">
                <a:solidFill>
                  <a:schemeClr val="tx1"/>
                </a:solidFill>
              </a:rPr>
              <a:t>Spool and automatic resend, password, allow-list, health URL</a:t>
            </a:r>
            <a:endParaRPr lang="en-US" sz="1800" dirty="0"/>
          </a:p>
        </p:txBody>
      </p:sp>
      <p:sp>
        <p:nvSpPr>
          <p:cNvPr id="9" name="untested circle"/>
          <p:cNvSpPr/>
          <p:nvPr/>
        </p:nvSpPr>
        <p:spPr>
          <a:xfrm>
            <a:off x="6522415" y="1737360"/>
            <a:ext cx="548640" cy="548640"/>
          </a:xfrm>
          <a:prstGeom prst="ellipse">
            <a:avLst/>
          </a:prstGeom>
          <a:solidFill>
            <a:srgbClr val="F2B134"/>
          </a:solidFill>
          <a:ln w="12700">
            <a:solidFill>
              <a:srgbClr val="F2B134"/>
            </a:solidFill>
            <a:prstDash val="solid"/>
          </a:ln>
        </p:spPr>
      </p:sp>
      <p:pic>
        <p:nvPicPr>
          <p:cNvPr id="10" name="Image 1" descr="Exclamation icon">    </p:cNvPr>
          <p:cNvPicPr>
            <a:picLocks noChangeAspect="1"/>
          </p:cNvPicPr>
          <p:nvPr/>
        </p:nvPicPr>
        <p:blipFill>
          <a:blip r:embed="rId2"/>
          <a:stretch>
            <a:fillRect/>
          </a:stretch>
        </p:blipFill>
        <p:spPr>
          <a:xfrm>
            <a:off x="6659575" y="1874520"/>
            <a:ext cx="274320" cy="274320"/>
          </a:xfrm>
          <a:prstGeom prst="rect">
            <a:avLst/>
          </a:prstGeom>
        </p:spPr>
      </p:pic>
      <p:sp>
        <p:nvSpPr>
          <p:cNvPr id="11" name="untested title"/>
          <p:cNvSpPr txBox="1"/>
          <p:nvPr/>
        </p:nvSpPr>
        <p:spPr>
          <a:xfrm>
            <a:off x="7253935" y="1783080"/>
            <a:ext cx="3657600" cy="457200"/>
          </a:xfrm>
          <a:prstGeom prst="rect">
            <a:avLst/>
          </a:prstGeom>
          <a:noFill/>
          <a:ln/>
        </p:spPr>
        <p:txBody>
          <a:bodyPr wrap="square" lIns="0" tIns="0" rIns="0" bIns="0" rtlCol="0" anchor="ctr"/>
          <a:lstStyle/>
          <a:p>
            <a:pPr indent="0" marL="0">
              <a:buNone/>
            </a:pPr>
            <a:r>
              <a:rPr lang="en-US" sz="2200" b="1" dirty="0">
                <a:solidFill>
                  <a:schemeClr val="tx2"/>
                </a:solidFill>
              </a:rPr>
              <a:t>Not yet tested</a:t>
            </a:r>
            <a:endParaRPr lang="en-US" sz="2200" dirty="0"/>
          </a:p>
        </p:txBody>
      </p:sp>
      <p:sp>
        <p:nvSpPr>
          <p:cNvPr id="12" name="untested list"/>
          <p:cNvSpPr txBox="1"/>
          <p:nvPr/>
        </p:nvSpPr>
        <p:spPr>
          <a:xfrm>
            <a:off x="6568135" y="2514600"/>
            <a:ext cx="4754880" cy="33832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Windows and macOS (launchers, auto-start)</a:t>
            </a:r>
            <a:endParaRPr lang="en-US" sz="1800" dirty="0"/>
          </a:p>
          <a:p>
            <a:pPr marL="342900" indent="-342900">
              <a:spcAft>
                <a:spcPts val="800"/>
              </a:spcAft>
              <a:buSzPct val="100000"/>
              <a:buChar char="•"/>
            </a:pPr>
            <a:r>
              <a:rPr lang="en-US" sz="1800" dirty="0">
                <a:solidFill>
                  <a:schemeClr val="tx1"/>
                </a:solidFill>
              </a:rPr>
              <a:t>WiFi and 4G interface on the reader</a:t>
            </a:r>
            <a:endParaRPr lang="en-US" sz="1800" dirty="0"/>
          </a:p>
          <a:p>
            <a:pPr marL="342900" indent="-342900">
              <a:spcAft>
                <a:spcPts val="800"/>
              </a:spcAft>
              <a:buSzPct val="100000"/>
              <a:buChar char="•"/>
            </a:pPr>
            <a:r>
              <a:rPr lang="en-US" sz="1800" dirty="0">
                <a:solidFill>
                  <a:schemeClr val="tx1"/>
                </a:solidFill>
              </a:rPr>
              <a:t>Forwarding to a real cloud service</a:t>
            </a:r>
            <a:endParaRPr lang="en-US" sz="1800" dirty="0"/>
          </a:p>
          <a:p>
            <a:pPr marL="342900" indent="-342900">
              <a:spcAft>
                <a:spcPts val="800"/>
              </a:spcAft>
              <a:buSzPct val="100000"/>
              <a:buChar char="•"/>
            </a:pPr>
            <a:r>
              <a:rPr lang="en-US" sz="1800" dirty="0">
                <a:solidFill>
                  <a:schemeClr val="tx1"/>
                </a:solidFill>
              </a:rPr>
              <a:t>One-click button and Restore on the real reader</a:t>
            </a:r>
            <a:endParaRPr lang="en-US" sz="1800" dirty="0"/>
          </a:p>
          <a:p>
            <a:pPr marL="342900" indent="-342900">
              <a:buSzPct val="100000"/>
              <a:buChar char="•"/>
            </a:pPr>
            <a:r>
              <a:rPr lang="en-US" sz="1800" dirty="0">
                <a:solidFill>
                  <a:schemeClr val="tx1"/>
                </a:solidFill>
              </a:rPr>
              <a:t>Writing RF power and Wiegand values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54864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Get it, run it, tell us what breaks</a:t>
            </a:r>
            <a:endParaRPr lang="en-US" sz="3600" dirty="0"/>
          </a:p>
        </p:txBody>
      </p:sp>
      <p:sp>
        <p:nvSpPr>
          <p:cNvPr id="3" name="next icon 0 circle"/>
          <p:cNvSpPr/>
          <p:nvPr/>
        </p:nvSpPr>
        <p:spPr>
          <a:xfrm>
            <a:off x="548640" y="1783080"/>
            <a:ext cx="777240" cy="777240"/>
          </a:xfrm>
          <a:prstGeom prst="ellipse">
            <a:avLst/>
          </a:prstGeom>
          <a:solidFill>
            <a:srgbClr val="1F8A9E"/>
          </a:solidFill>
          <a:ln w="12700">
            <a:solidFill>
              <a:srgbClr val="1F8A9E"/>
            </a:solidFill>
            <a:prstDash val="solid"/>
          </a:ln>
        </p:spPr>
      </p:sp>
      <p:pic>
        <p:nvPicPr>
          <p:cNvPr id="4" name="Image 0" descr="Windows icon">    </p:cNvPr>
          <p:cNvPicPr>
            <a:picLocks noChangeAspect="1"/>
          </p:cNvPicPr>
          <p:nvPr/>
        </p:nvPicPr>
        <p:blipFill>
          <a:blip r:embed="rId1"/>
          <a:stretch>
            <a:fillRect/>
          </a:stretch>
        </p:blipFill>
        <p:spPr>
          <a:xfrm>
            <a:off x="742950" y="1977390"/>
            <a:ext cx="388620" cy="388620"/>
          </a:xfrm>
          <a:prstGeom prst="rect">
            <a:avLst/>
          </a:prstGeom>
        </p:spPr>
      </p:pic>
      <p:sp>
        <p:nvSpPr>
          <p:cNvPr id="5" name="next title 0"/>
          <p:cNvSpPr txBox="1"/>
          <p:nvPr/>
        </p:nvSpPr>
        <p:spPr>
          <a:xfrm>
            <a:off x="1554480" y="1764792"/>
            <a:ext cx="5486400" cy="411480"/>
          </a:xfrm>
          <a:prstGeom prst="rect">
            <a:avLst/>
          </a:prstGeom>
          <a:noFill/>
          <a:ln/>
        </p:spPr>
        <p:txBody>
          <a:bodyPr wrap="square" lIns="0" tIns="0" rIns="0" bIns="0" rtlCol="0" anchor="t"/>
          <a:lstStyle/>
          <a:p>
            <a:pPr indent="0" marL="0">
              <a:buNone/>
            </a:pPr>
            <a:r>
              <a:rPr lang="en-US" sz="2200" b="1" dirty="0">
                <a:solidFill>
                  <a:schemeClr val="bg1"/>
                </a:solidFill>
              </a:rPr>
              <a:t>Test on Windows and macOS</a:t>
            </a:r>
            <a:endParaRPr lang="en-US" sz="2200" dirty="0"/>
          </a:p>
        </p:txBody>
      </p:sp>
      <p:sp>
        <p:nvSpPr>
          <p:cNvPr id="6" name="next text 0"/>
          <p:cNvSpPr txBox="1"/>
          <p:nvPr/>
        </p:nvSpPr>
        <p:spPr>
          <a:xfrm>
            <a:off x="1554480" y="2194560"/>
            <a:ext cx="5486400" cy="365760"/>
          </a:xfrm>
          <a:prstGeom prst="rect">
            <a:avLst/>
          </a:prstGeom>
          <a:noFill/>
          <a:ln/>
        </p:spPr>
        <p:txBody>
          <a:bodyPr wrap="square" lIns="0" tIns="0" rIns="0" bIns="0" rtlCol="0" anchor="t"/>
          <a:lstStyle/>
          <a:p>
            <a:pPr indent="0" marL="0">
              <a:buNone/>
            </a:pPr>
            <a:r>
              <a:rPr lang="en-US" sz="1600" dirty="0">
                <a:solidFill>
                  <a:schemeClr val="bg2"/>
                </a:solidFill>
              </a:rPr>
              <a:t>Run the launcher, reboot, check auto-start</a:t>
            </a:r>
            <a:endParaRPr lang="en-US" sz="1600" dirty="0"/>
          </a:p>
        </p:txBody>
      </p:sp>
      <p:sp>
        <p:nvSpPr>
          <p:cNvPr id="7" name="next icon 1 circle"/>
          <p:cNvSpPr/>
          <p:nvPr/>
        </p:nvSpPr>
        <p:spPr>
          <a:xfrm>
            <a:off x="548640" y="2926080"/>
            <a:ext cx="777240" cy="777240"/>
          </a:xfrm>
          <a:prstGeom prst="ellipse">
            <a:avLst/>
          </a:prstGeom>
          <a:solidFill>
            <a:srgbClr val="FF7A1A"/>
          </a:solidFill>
          <a:ln w="12700">
            <a:solidFill>
              <a:srgbClr val="FF7A1A"/>
            </a:solidFill>
            <a:prstDash val="solid"/>
          </a:ln>
        </p:spPr>
      </p:sp>
      <p:pic>
        <p:nvPicPr>
          <p:cNvPr id="8" name="Image 1" descr="Wifi icon">    </p:cNvPr>
          <p:cNvPicPr>
            <a:picLocks noChangeAspect="1"/>
          </p:cNvPicPr>
          <p:nvPr/>
        </p:nvPicPr>
        <p:blipFill>
          <a:blip r:embed="rId2"/>
          <a:stretch>
            <a:fillRect/>
          </a:stretch>
        </p:blipFill>
        <p:spPr>
          <a:xfrm>
            <a:off x="742950" y="3120390"/>
            <a:ext cx="388620" cy="388620"/>
          </a:xfrm>
          <a:prstGeom prst="rect">
            <a:avLst/>
          </a:prstGeom>
        </p:spPr>
      </p:pic>
      <p:sp>
        <p:nvSpPr>
          <p:cNvPr id="9" name="next title 1"/>
          <p:cNvSpPr txBox="1"/>
          <p:nvPr/>
        </p:nvSpPr>
        <p:spPr>
          <a:xfrm>
            <a:off x="1554480" y="2907792"/>
            <a:ext cx="5486400" cy="411480"/>
          </a:xfrm>
          <a:prstGeom prst="rect">
            <a:avLst/>
          </a:prstGeom>
          <a:noFill/>
          <a:ln/>
        </p:spPr>
        <p:txBody>
          <a:bodyPr wrap="square" lIns="0" tIns="0" rIns="0" bIns="0" rtlCol="0" anchor="t"/>
          <a:lstStyle/>
          <a:p>
            <a:pPr indent="0" marL="0">
              <a:buNone/>
            </a:pPr>
            <a:r>
              <a:rPr lang="en-US" sz="2200" b="1" dirty="0">
                <a:solidFill>
                  <a:schemeClr val="bg1"/>
                </a:solidFill>
              </a:rPr>
              <a:t>Try WiFi on the reader</a:t>
            </a:r>
            <a:endParaRPr lang="en-US" sz="2200" dirty="0"/>
          </a:p>
        </p:txBody>
      </p:sp>
      <p:sp>
        <p:nvSpPr>
          <p:cNvPr id="10" name="next text 1"/>
          <p:cNvSpPr txBox="1"/>
          <p:nvPr/>
        </p:nvSpPr>
        <p:spPr>
          <a:xfrm>
            <a:off x="1554480" y="3337560"/>
            <a:ext cx="5486400" cy="365760"/>
          </a:xfrm>
          <a:prstGeom prst="rect">
            <a:avLst/>
          </a:prstGeom>
          <a:noFill/>
          <a:ln/>
        </p:spPr>
        <p:txBody>
          <a:bodyPr wrap="square" lIns="0" tIns="0" rIns="0" bIns="0" rtlCol="0" anchor="t"/>
          <a:lstStyle/>
          <a:p>
            <a:pPr indent="0" marL="0">
              <a:buNone/>
            </a:pPr>
            <a:r>
              <a:rPr lang="en-US" sz="1600" dirty="0">
                <a:solidFill>
                  <a:schemeClr val="bg2"/>
                </a:solidFill>
              </a:rPr>
              <a:t>Interface WIFI plus network name and password</a:t>
            </a:r>
            <a:endParaRPr lang="en-US" sz="1600" dirty="0"/>
          </a:p>
        </p:txBody>
      </p:sp>
      <p:sp>
        <p:nvSpPr>
          <p:cNvPr id="11" name="next icon 2 circle"/>
          <p:cNvSpPr/>
          <p:nvPr/>
        </p:nvSpPr>
        <p:spPr>
          <a:xfrm>
            <a:off x="548640" y="4069080"/>
            <a:ext cx="777240" cy="777240"/>
          </a:xfrm>
          <a:prstGeom prst="ellipse">
            <a:avLst/>
          </a:prstGeom>
          <a:solidFill>
            <a:srgbClr val="1F8A9E"/>
          </a:solidFill>
          <a:ln w="12700">
            <a:solidFill>
              <a:srgbClr val="1F8A9E"/>
            </a:solidFill>
            <a:prstDash val="solid"/>
          </a:ln>
        </p:spPr>
      </p:sp>
      <p:pic>
        <p:nvPicPr>
          <p:cNvPr id="12" name="Image 2" descr="Cloud icon">    </p:cNvPr>
          <p:cNvPicPr>
            <a:picLocks noChangeAspect="1"/>
          </p:cNvPicPr>
          <p:nvPr/>
        </p:nvPicPr>
        <p:blipFill>
          <a:blip r:embed="rId3"/>
          <a:stretch>
            <a:fillRect/>
          </a:stretch>
        </p:blipFill>
        <p:spPr>
          <a:xfrm>
            <a:off x="742950" y="4263390"/>
            <a:ext cx="388620" cy="388620"/>
          </a:xfrm>
          <a:prstGeom prst="rect">
            <a:avLst/>
          </a:prstGeom>
        </p:spPr>
      </p:pic>
      <p:sp>
        <p:nvSpPr>
          <p:cNvPr id="13" name="next title 2"/>
          <p:cNvSpPr txBox="1"/>
          <p:nvPr/>
        </p:nvSpPr>
        <p:spPr>
          <a:xfrm>
            <a:off x="1554480" y="4050792"/>
            <a:ext cx="5486400" cy="411480"/>
          </a:xfrm>
          <a:prstGeom prst="rect">
            <a:avLst/>
          </a:prstGeom>
          <a:noFill/>
          <a:ln/>
        </p:spPr>
        <p:txBody>
          <a:bodyPr wrap="square" lIns="0" tIns="0" rIns="0" bIns="0" rtlCol="0" anchor="t"/>
          <a:lstStyle/>
          <a:p>
            <a:pPr indent="0" marL="0">
              <a:buNone/>
            </a:pPr>
            <a:r>
              <a:rPr lang="en-US" sz="2200" b="1" dirty="0">
                <a:solidFill>
                  <a:schemeClr val="bg1"/>
                </a:solidFill>
              </a:rPr>
              <a:t>Connect a real endpoint</a:t>
            </a:r>
            <a:endParaRPr lang="en-US" sz="2200" dirty="0"/>
          </a:p>
        </p:txBody>
      </p:sp>
      <p:sp>
        <p:nvSpPr>
          <p:cNvPr id="14" name="next text 2"/>
          <p:cNvSpPr txBox="1"/>
          <p:nvPr/>
        </p:nvSpPr>
        <p:spPr>
          <a:xfrm>
            <a:off x="1554480" y="4480560"/>
            <a:ext cx="5486400" cy="365760"/>
          </a:xfrm>
          <a:prstGeom prst="rect">
            <a:avLst/>
          </a:prstGeom>
          <a:noFill/>
          <a:ln/>
        </p:spPr>
        <p:txBody>
          <a:bodyPr wrap="square" lIns="0" tIns="0" rIns="0" bIns="0" rtlCol="0" anchor="t"/>
          <a:lstStyle/>
          <a:p>
            <a:pPr indent="0" marL="0">
              <a:buNone/>
            </a:pPr>
            <a:r>
              <a:rPr lang="en-US" sz="1600" dirty="0">
                <a:solidFill>
                  <a:schemeClr val="bg2"/>
                </a:solidFill>
              </a:rPr>
              <a:t>HTTP URL or MQTT broker, then unplug to test the spool</a:t>
            </a:r>
            <a:endParaRPr lang="en-US" sz="1600" dirty="0"/>
          </a:p>
        </p:txBody>
      </p:sp>
      <p:sp>
        <p:nvSpPr>
          <p:cNvPr id="15" name="repo card"/>
          <p:cNvSpPr/>
          <p:nvPr/>
        </p:nvSpPr>
        <p:spPr>
          <a:xfrm>
            <a:off x="7498080" y="1783080"/>
            <a:ext cx="4142232" cy="3291840"/>
          </a:xfrm>
          <a:prstGeom prst="roundRect">
            <a:avLst>
              <a:gd name="adj" fmla="val 3333"/>
            </a:avLst>
          </a:prstGeom>
          <a:solidFill>
            <a:schemeClr val="tx1"/>
          </a:solidFill>
          <a:ln w="9525">
            <a:solidFill>
              <a:schemeClr val="accent5"/>
            </a:solidFill>
            <a:prstDash val="solid"/>
          </a:ln>
        </p:spPr>
      </p:sp>
      <p:pic>
        <p:nvPicPr>
          <p:cNvPr id="16" name="Image 3" descr="GitHub icon">    </p:cNvPr>
          <p:cNvPicPr>
            <a:picLocks noChangeAspect="1"/>
          </p:cNvPicPr>
          <p:nvPr/>
        </p:nvPicPr>
        <p:blipFill>
          <a:blip r:embed="rId4"/>
          <a:stretch>
            <a:fillRect/>
          </a:stretch>
        </p:blipFill>
        <p:spPr>
          <a:xfrm>
            <a:off x="7772400" y="2057400"/>
            <a:ext cx="548640" cy="548640"/>
          </a:xfrm>
          <a:prstGeom prst="rect">
            <a:avLst/>
          </a:prstGeom>
        </p:spPr>
      </p:pic>
      <p:sp>
        <p:nvSpPr>
          <p:cNvPr id="17" name="repo title"/>
          <p:cNvSpPr txBox="1"/>
          <p:nvPr/>
        </p:nvSpPr>
        <p:spPr>
          <a:xfrm>
            <a:off x="8503920" y="2103120"/>
            <a:ext cx="3017520" cy="457200"/>
          </a:xfrm>
          <a:prstGeom prst="rect">
            <a:avLst/>
          </a:prstGeom>
          <a:noFill/>
          <a:ln/>
        </p:spPr>
        <p:txBody>
          <a:bodyPr wrap="square" lIns="0" tIns="0" rIns="0" bIns="0" rtlCol="0" anchor="ctr"/>
          <a:lstStyle/>
          <a:p>
            <a:pPr indent="0" marL="0">
              <a:buNone/>
            </a:pPr>
            <a:r>
              <a:rPr lang="en-US" sz="2000" b="1" dirty="0">
                <a:solidFill>
                  <a:schemeClr val="bg1"/>
                </a:solidFill>
              </a:rPr>
              <a:t>Private repository</a:t>
            </a:r>
            <a:endParaRPr lang="en-US" sz="2000" dirty="0"/>
          </a:p>
        </p:txBody>
      </p:sp>
      <p:sp>
        <p:nvSpPr>
          <p:cNvPr id="18" name="repo url"/>
          <p:cNvSpPr txBox="1"/>
          <p:nvPr/>
        </p:nvSpPr>
        <p:spPr>
          <a:xfrm>
            <a:off x="7726680" y="2880360"/>
            <a:ext cx="3794760" cy="365760"/>
          </a:xfrm>
          <a:prstGeom prst="rect">
            <a:avLst/>
          </a:prstGeom>
          <a:noFill/>
          <a:ln/>
        </p:spPr>
        <p:txBody>
          <a:bodyPr wrap="square" lIns="0" tIns="0" rIns="0" bIns="0" rtlCol="0" anchor="t"/>
          <a:lstStyle/>
          <a:p>
            <a:pPr indent="0" marL="0">
              <a:buNone/>
            </a:pPr>
            <a:r>
              <a:rPr lang="en-US" sz="1300" b="1" dirty="0">
                <a:solidFill>
                  <a:schemeClr val="accent2"/>
                </a:solidFill>
              </a:rPr>
              <a:t>github.com/C2A-2796/selfmade-reader</a:t>
            </a:r>
            <a:endParaRPr lang="en-US" sz="1300" dirty="0"/>
          </a:p>
        </p:txBody>
      </p:sp>
      <p:sp>
        <p:nvSpPr>
          <p:cNvPr id="19" name="repo text"/>
          <p:cNvSpPr txBox="1"/>
          <p:nvPr/>
        </p:nvSpPr>
        <p:spPr>
          <a:xfrm>
            <a:off x="7772400" y="3474720"/>
            <a:ext cx="3657600" cy="1097280"/>
          </a:xfrm>
          <a:prstGeom prst="rect">
            <a:avLst/>
          </a:prstGeom>
          <a:noFill/>
          <a:ln/>
        </p:spPr>
        <p:txBody>
          <a:bodyPr wrap="square" lIns="0" tIns="0" rIns="0" bIns="0" rtlCol="0" anchor="t"/>
          <a:lstStyle/>
          <a:p>
            <a:pPr indent="0" marL="0">
              <a:buNone/>
            </a:pPr>
            <a:r>
              <a:rPr lang="en-US" sz="1600" dirty="0">
                <a:solidFill>
                  <a:schemeClr val="bg2"/>
                </a:solidFill>
              </a:rPr>
              <a:t>Access by invitation. Start with docs/SOP.md: install, set up, verify, sign off.</a:t>
            </a:r>
            <a:endParaRPr lang="en-US" sz="1600" dirty="0"/>
          </a:p>
        </p:txBody>
      </p:sp>
      <p:sp>
        <p:nvSpPr>
          <p:cNvPr id="20" name="Questions"/>
          <p:cNvSpPr txBox="1"/>
          <p:nvPr/>
        </p:nvSpPr>
        <p:spPr>
          <a:xfrm>
            <a:off x="548640" y="5486400"/>
            <a:ext cx="4572000" cy="548640"/>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Questions?</a:t>
            </a:r>
            <a:endParaRPr lang="en-US" sz="2800" dirty="0"/>
          </a:p>
        </p:txBody>
      </p:sp>
    </p:spTree>
  </p:cSld>
  <p:clrMapOvr>
    <a:masterClrMapping/>
  </p:clrMapOvr>
</p:sld>
</file>

<file path=ppt/theme/theme1.xml><?xml version="1.0" encoding="utf-8"?>
<a:theme xmlns:a="http://schemas.openxmlformats.org/drawingml/2006/main" name="Selfmade Signal">
  <a:themeElements>
    <a:clrScheme name="Selfmade Signal">
      <a:dk1>
        <a:srgbClr val="10242E"/>
      </a:dk1>
      <a:lt1>
        <a:srgbClr val="FFFFFF"/>
      </a:lt1>
      <a:dk2>
        <a:srgbClr val="0B2B3A"/>
      </a:dk2>
      <a:lt2>
        <a:srgbClr val="EEF3F6"/>
      </a:lt2>
      <a:accent1>
        <a:srgbClr val="1F8A9E"/>
      </a:accent1>
      <a:accent2>
        <a:srgbClr val="FF7A1A"/>
      </a:accent2>
      <a:accent3>
        <a:srgbClr val="2FA37C"/>
      </a:accent3>
      <a:accent4>
        <a:srgbClr val="D9534F"/>
      </a:accent4>
      <a:accent5>
        <a:srgbClr val="6C7A89"/>
      </a:accent5>
      <a:accent6>
        <a:srgbClr val="F2B134"/>
      </a:accent6>
      <a:hlink>
        <a:srgbClr val="1F8A9E"/>
      </a:hlink>
      <a:folHlink>
        <a:srgbClr val="6C7A89"/>
      </a:folHlink>
    </a:clrScheme>
    <a:fontScheme name="Selfmade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Selfmade Reader - UHF RFID over Ethernet</dc:title>
  <dc:subject>PptxGenJS Presentation</dc:subject>
  <dc:creator>C2A-2796</dc:creator>
  <cp:lastModifiedBy>C2A-2796</cp:lastModifiedBy>
  <cp:revision>1</cp:revision>
  <dcterms:created xsi:type="dcterms:W3CDTF">2026-10-07T12:57:29Z</dcterms:created>
  <dcterms:modified xsi:type="dcterms:W3CDTF">2026-10-07T12:57:29Z</dcterms:modified>
</cp:coreProperties>
</file>